
<file path=[Content_Types].xml><?xml version="1.0" encoding="utf-8"?>
<Types xmlns="http://schemas.openxmlformats.org/package/2006/content-types">
  <Default Extension="rels" ContentType="application/vnd.openxmlformats-package.relationships+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
  </p:notesMasterIdLst>
  <p:sldIdLst>
    <p:sldId id="256" r:id="rId1"/>
    <p:sldId id="257" r:id="rId2"/>
    <p:sldId id="258" r:id="rId3"/>
    <p:sldId id="259" r:id="rId4"/>
    <p:sldId id="260" r:id="rId5"/>
    <p:sldId id="261" r:id="rId6"/>
  </p:sldIdLst>
  <p:sldSz cx="12191695" cy="6858000"/>
  <p:notesSz cx="6858000" cy="9144000"/>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 Type="http://schemas.openxmlformats.org/officeDocument/2006/relationships/notesMaster" Target="notesMasters/notesMaster1.xml"/><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Master>
</file>

<file path=ppt/notesSlides/_rels/notesSlide1.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t>Introduce the assignment: PrimeTrust Bank asks for a simple app with onboarding and invoicing, using Flutter or React and the supplied Figma. The brief specifies a maximum of 60 minutes; this slide does not claim measured implementation time. Source: Case study - Senior Analyst, Mobile Development - Individual 3.docx. Implementation: lib/main.dart, lib/app/app.dart, pubspec.yaml.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t>Walk through the user journey. These images are supplied design references, not screenshots of the current build. The app calculates actual invoice totals; the sample design totals are inconsistent. The current preview exposes Download PDF and Send to Client Email. Social sign-in is an explanatory demo, not connected OAuth. Sources: lib/features/onboarding/, editor.dart, preview.dart, invoice_document.dart, app/theme.dart and the supplied PNGs.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t>Code walkthrough: main.dart initializes preferences and provides them to ProviderScope. app/store.dart defines NotifierProvider&lt;AppStore, AppState&gt;. ref.watch rebuilds the UI when relevant state changes; ref.read(...notifier) invokes actions. Form controllers, focus and transient loading remain local. InvoiceFormData converts a draft to an Invoice. Theme and shared widgets are separate files. No extra repository/use-case layers were added. Open docs/CODE_GUIDE.md for the file map.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t>Validation: bank numbers accept 1–10 digits and preserve leading zeros; bank names reject digits. VAT is 0–100%, optional shipping defaults to zero, quantity must be positive. Money uses integer minor units; invoice.dart calculates totals. Reliability: errors are translated into user messages, export flags reset in finally, corrupt stored invoices are protected from overwrite. Resource practices are implemented, but performance has not been benchmarked. Onboarding intentionally includes a 3-second button spinner and a 2-second branded loader; these are demo delays, not measured network latency. Sources: shared/validation.dart, invoice.dart, main.dart, preview.dart, logo_picker.dart, app/app.dart and test/invoice_document_test.dart.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t>These are results from the completed refactor verification in this workspace: flutter test passed 21 tests; flutter analyze reported no issues. Four golden comparisons cover signup, dashboard, editor and preview, proving no pixel changes against the captured pre-refactor baselines, not exact equivalence to Figma. Tests include 320-pixel creation/preview/edit flow and enlarged-text document layouts. Documentation: README.md and docs/CODE_GUIDE.md. Do not claim native sharing, file pickers or iOS have been fully device-validated.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ph type="body" idx="1"/>
          </p:nvPr>
        </p:nvSpPr>
        <p:spPr/>
        <p:txBody>
          <a:bodyPr/>
          <a:lstStyle/>
          <a:p>
            <a:r>
              <a:t>Use this sequence to present both code and final solution as requested by the brief. Important existing limitation: preview.dart has a save method and the Riverpod store supports persistence, but the current screen has no visible Save control. Do not demonstrate end-to-end saving as available. Authentication/OAuth and real delivery services are not connected. Next steps require product agreement and device testing; they are not claims of completed features. The deck reflects the existing codebase without changing app behavior.</a:t>
            </a:r>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image2_1.png"/><Relationship Id="rIdImage2" Type="http://schemas.openxmlformats.org/officeDocument/2006/relationships/image" Target="../media/image2_2.png"/><Relationship Id="rIdImage3" Type="http://schemas.openxmlformats.org/officeDocument/2006/relationships/image" Target="../media/image2_3.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nel 2"/>
          <p:cNvSpPr/>
          <p:nvPr/>
        </p:nvSpPr>
        <p:spPr>
          <a:xfrm>
            <a:off x="0" y="0"/>
            <a:ext cx="12191695" cy="109728"/>
          </a:xfrm>
          <a:prstGeom prst="rect">
            <a:avLst/>
          </a:prstGeom>
          <a:solidFill>
            <a:srgbClr val="50A7FF"/>
          </a:solidFill>
          <a:ln>
            <a:noFill/>
          </a:ln>
        </p:spPr>
      </p:sp>
      <p:sp>
        <p:nvSpPr>
          <p:cNvPr id="3" name="Text 3"/>
          <p:cNvSpPr txBox="1"/>
          <p:nvPr/>
        </p:nvSpPr>
        <p:spPr>
          <a:xfrm>
            <a:off x="548640" y="347472"/>
            <a:ext cx="10972800" cy="274320"/>
          </a:xfrm>
          <a:prstGeom prst="rect">
            <a:avLst/>
          </a:prstGeom>
          <a:noFill/>
          <a:ln>
            <a:noFill/>
          </a:ln>
        </p:spPr>
        <p:txBody>
          <a:bodyPr wrap="square" lIns="0" rIns="0" tIns="0" bIns="0"/>
          <a:lstStyle/>
          <a:p>
            <a:pPr>
              <a:spcAft>
                <a:spcPts val="1000"/>
              </a:spcAft>
            </a:pPr>
            <a:r>
              <a:rPr lang="en-US" sz="1200" b="1">
                <a:solidFill>
                  <a:srgbClr val="50A7FF"/>
                </a:solidFill>
                <a:latin typeface="Aptos"/>
              </a:rPr>
              <a:t>PRIMETRUST BANK • SOLUTION PRESENTATION</a:t>
            </a:r>
          </a:p>
        </p:txBody>
      </p:sp>
      <p:sp>
        <p:nvSpPr>
          <p:cNvPr id="4" name="Text 4"/>
          <p:cNvSpPr txBox="1"/>
          <p:nvPr/>
        </p:nvSpPr>
        <p:spPr>
          <a:xfrm>
            <a:off x="548640" y="868680"/>
            <a:ext cx="10972800" cy="914400"/>
          </a:xfrm>
          <a:prstGeom prst="rect">
            <a:avLst/>
          </a:prstGeom>
          <a:noFill/>
          <a:ln>
            <a:noFill/>
          </a:ln>
        </p:spPr>
        <p:txBody>
          <a:bodyPr wrap="square" lIns="0" rIns="0" tIns="0" bIns="0"/>
          <a:lstStyle/>
          <a:p>
            <a:pPr>
              <a:spcAft>
                <a:spcPts val="1000"/>
              </a:spcAft>
            </a:pPr>
            <a:r>
              <a:rPr lang="en-US" sz="3000" b="1">
                <a:solidFill>
                  <a:srgbClr val="103D66"/>
                </a:solidFill>
                <a:latin typeface="Aptos"/>
              </a:rPr>
              <a:t>LanceBox — simple mobile invoicing</a:t>
            </a:r>
          </a:p>
        </p:txBody>
      </p:sp>
      <p:sp>
        <p:nvSpPr>
          <p:cNvPr id="5" name="Text 5"/>
          <p:cNvSpPr txBox="1"/>
          <p:nvPr/>
        </p:nvSpPr>
        <p:spPr>
          <a:xfrm>
            <a:off x="548640" y="6510528"/>
            <a:ext cx="10058400" cy="182880"/>
          </a:xfrm>
          <a:prstGeom prst="rect">
            <a:avLst/>
          </a:prstGeom>
          <a:noFill/>
          <a:ln>
            <a:noFill/>
          </a:ln>
        </p:spPr>
        <p:txBody>
          <a:bodyPr wrap="square" lIns="0" rIns="0" tIns="0" bIns="0"/>
          <a:lstStyle/>
          <a:p>
            <a:pPr>
              <a:spcAft>
                <a:spcPts val="1000"/>
              </a:spcAft>
            </a:pPr>
            <a:r>
              <a:rPr lang="en-US" sz="1000" b="0">
                <a:solidFill>
                  <a:srgbClr val="5D6E7C"/>
                </a:solidFill>
                <a:latin typeface="Aptos"/>
              </a:rPr>
              <a:t>LANCEBOX  /  Senior Analyst, Mobile Development case study</a:t>
            </a:r>
          </a:p>
        </p:txBody>
      </p:sp>
      <p:sp>
        <p:nvSpPr>
          <p:cNvPr id="6" name="Text 6"/>
          <p:cNvSpPr txBox="1"/>
          <p:nvPr/>
        </p:nvSpPr>
        <p:spPr>
          <a:xfrm>
            <a:off x="10972800" y="6492240"/>
            <a:ext cx="640080" cy="228600"/>
          </a:xfrm>
          <a:prstGeom prst="rect">
            <a:avLst/>
          </a:prstGeom>
          <a:noFill/>
          <a:ln>
            <a:noFill/>
          </a:ln>
        </p:spPr>
        <p:txBody>
          <a:bodyPr wrap="square" lIns="0" rIns="0" tIns="0" bIns="0"/>
          <a:lstStyle/>
          <a:p>
            <a:pPr>
              <a:spcAft>
                <a:spcPts val="1000"/>
              </a:spcAft>
            </a:pPr>
            <a:r>
              <a:rPr lang="en-US" sz="1000" b="0">
                <a:solidFill>
                  <a:srgbClr val="5D6E7C"/>
                </a:solidFill>
                <a:latin typeface="Aptos"/>
              </a:rPr>
              <a:t>1 / 6</a:t>
            </a:r>
          </a:p>
        </p:txBody>
      </p:sp>
      <p:sp>
        <p:nvSpPr>
          <p:cNvPr id="7" name="Text 7"/>
          <p:cNvSpPr txBox="1"/>
          <p:nvPr/>
        </p:nvSpPr>
        <p:spPr>
          <a:xfrm>
            <a:off x="594360" y="1874520"/>
            <a:ext cx="6492240" cy="1188720"/>
          </a:xfrm>
          <a:prstGeom prst="rect">
            <a:avLst/>
          </a:prstGeom>
          <a:noFill/>
          <a:ln>
            <a:noFill/>
          </a:ln>
        </p:spPr>
        <p:txBody>
          <a:bodyPr wrap="square" lIns="0" rIns="0" tIns="0" bIns="0"/>
          <a:lstStyle/>
          <a:p>
            <a:pPr>
              <a:spcAft>
                <a:spcPts val="1000"/>
              </a:spcAft>
            </a:pPr>
            <a:r>
              <a:rPr lang="en-US" sz="3200" b="1">
                <a:solidFill>
                  <a:srgbClr val="103D66"/>
                </a:solidFill>
                <a:latin typeface="Aptos"/>
              </a:rPr>
              <a:t>From customer onboarding</a:t>
            </a:r>
          </a:p>
          <a:p>
            <a:pPr>
              <a:spcAft>
                <a:spcPts val="1000"/>
              </a:spcAft>
            </a:pPr>
            <a:r>
              <a:rPr lang="en-US" sz="3200" b="1">
                <a:solidFill>
                  <a:srgbClr val="103D66"/>
                </a:solidFill>
                <a:latin typeface="Aptos"/>
              </a:rPr>
              <a:t>to an invoice ready to share.</a:t>
            </a:r>
          </a:p>
        </p:txBody>
      </p:sp>
      <p:sp>
        <p:nvSpPr>
          <p:cNvPr id="8" name="Text 8"/>
          <p:cNvSpPr txBox="1"/>
          <p:nvPr/>
        </p:nvSpPr>
        <p:spPr>
          <a:xfrm>
            <a:off x="594360" y="3337560"/>
            <a:ext cx="6400800" cy="1143000"/>
          </a:xfrm>
          <a:prstGeom prst="rect">
            <a:avLst/>
          </a:prstGeom>
          <a:noFill/>
          <a:ln>
            <a:noFill/>
          </a:ln>
        </p:spPr>
        <p:txBody>
          <a:bodyPr wrap="square" lIns="0" rIns="0" tIns="0" bIns="0"/>
          <a:lstStyle/>
          <a:p>
            <a:pPr>
              <a:spcAft>
                <a:spcPts val="1000"/>
              </a:spcAft>
            </a:pPr>
            <a:r>
              <a:rPr lang="en-US" sz="2200" b="0">
                <a:solidFill>
                  <a:srgbClr val="203345"/>
                </a:solidFill>
                <a:latin typeface="Aptos"/>
              </a:rPr>
              <a:t>A Flutter mobile application built from the supplied LanceBox designs, with Riverpod managing shared app data.</a:t>
            </a:r>
          </a:p>
        </p:txBody>
      </p:sp>
      <p:sp>
        <p:nvSpPr>
          <p:cNvPr id="9" name="Panel 9"/>
          <p:cNvSpPr/>
          <p:nvPr/>
        </p:nvSpPr>
        <p:spPr>
          <a:xfrm>
            <a:off x="7635240" y="1920240"/>
            <a:ext cx="3886200" cy="3611880"/>
          </a:xfrm>
          <a:prstGeom prst="roundRect">
            <a:avLst/>
          </a:prstGeom>
          <a:solidFill>
            <a:srgbClr val="103D66"/>
          </a:solidFill>
          <a:ln>
            <a:noFill/>
          </a:ln>
        </p:spPr>
      </p:sp>
      <p:sp>
        <p:nvSpPr>
          <p:cNvPr id="10" name="Text 10"/>
          <p:cNvSpPr txBox="1"/>
          <p:nvPr/>
        </p:nvSpPr>
        <p:spPr>
          <a:xfrm>
            <a:off x="7955280" y="2240280"/>
            <a:ext cx="3246120" cy="365760"/>
          </a:xfrm>
          <a:prstGeom prst="rect">
            <a:avLst/>
          </a:prstGeom>
          <a:noFill/>
          <a:ln>
            <a:noFill/>
          </a:ln>
        </p:spPr>
        <p:txBody>
          <a:bodyPr wrap="square" lIns="0" rIns="0" tIns="0" bIns="0"/>
          <a:lstStyle/>
          <a:p>
            <a:pPr>
              <a:spcAft>
                <a:spcPts val="1000"/>
              </a:spcAft>
            </a:pPr>
            <a:r>
              <a:rPr lang="en-US" sz="1500" b="1">
                <a:solidFill>
                  <a:srgbClr val="50A7FF"/>
                </a:solidFill>
                <a:latin typeface="Aptos"/>
              </a:rPr>
              <a:t>CASE STUDY BRIEF</a:t>
            </a:r>
          </a:p>
        </p:txBody>
      </p:sp>
      <p:sp>
        <p:nvSpPr>
          <p:cNvPr id="11" name="Text 11"/>
          <p:cNvSpPr txBox="1"/>
          <p:nvPr/>
        </p:nvSpPr>
        <p:spPr>
          <a:xfrm>
            <a:off x="7955280" y="2834640"/>
            <a:ext cx="3246120" cy="2377440"/>
          </a:xfrm>
          <a:prstGeom prst="rect">
            <a:avLst/>
          </a:prstGeom>
          <a:noFill/>
          <a:ln>
            <a:noFill/>
          </a:ln>
        </p:spPr>
        <p:txBody>
          <a:bodyPr wrap="square" lIns="0" rIns="0" tIns="0" bIns="0"/>
          <a:lstStyle/>
          <a:p>
            <a:pPr>
              <a:spcAft>
                <a:spcPts val="1000"/>
              </a:spcAft>
            </a:pPr>
            <a:r>
              <a:rPr lang="en-US" sz="2100" b="0">
                <a:solidFill>
                  <a:srgbClr val="FFFFFF"/>
                </a:solidFill>
                <a:latin typeface="Aptos"/>
              </a:rPr>
              <a:t>Onboarding + invoicing</a:t>
            </a:r>
          </a:p>
          <a:p>
            <a:pPr>
              <a:spcAft>
                <a:spcPts val="1000"/>
              </a:spcAft>
            </a:pPr>
            <a:r>
              <a:rPr lang="en-US" sz="2100" b="0">
                <a:solidFill>
                  <a:srgbClr val="FFFFFF"/>
                </a:solidFill>
                <a:latin typeface="Aptos"/>
              </a:rPr>
              <a:t>Flutter implementation</a:t>
            </a:r>
          </a:p>
          <a:p>
            <a:pPr>
              <a:spcAft>
                <a:spcPts val="1000"/>
              </a:spcAft>
            </a:pPr>
            <a:r>
              <a:rPr lang="en-US" sz="2100" b="0">
                <a:solidFill>
                  <a:srgbClr val="FFFFFF"/>
                </a:solidFill>
                <a:latin typeface="Aptos"/>
              </a:rPr>
              <a:t>Code + solution walkthrough</a:t>
            </a:r>
          </a:p>
          <a:p>
            <a:pPr>
              <a:spcAft>
                <a:spcPts val="1000"/>
              </a:spcAft>
            </a:pPr>
            <a:r>
              <a:rPr lang="en-US" sz="2100" b="0">
                <a:solidFill>
                  <a:srgbClr val="FFFFFF"/>
                </a:solidFill>
                <a:latin typeface="Aptos"/>
              </a:rPr>
              <a:t>60-minute task constraint</a:t>
            </a:r>
          </a:p>
        </p:txBody>
      </p:sp>
      <p:sp>
        <p:nvSpPr>
          <p:cNvPr id="12" name="Text 12"/>
          <p:cNvSpPr txBox="1"/>
          <p:nvPr/>
        </p:nvSpPr>
        <p:spPr>
          <a:xfrm>
            <a:off x="594360" y="5212080"/>
            <a:ext cx="6400800" cy="594360"/>
          </a:xfrm>
          <a:prstGeom prst="rect">
            <a:avLst/>
          </a:prstGeom>
          <a:noFill/>
          <a:ln>
            <a:noFill/>
          </a:ln>
        </p:spPr>
        <p:txBody>
          <a:bodyPr wrap="square" lIns="0" rIns="0" tIns="0" bIns="0"/>
          <a:lstStyle/>
          <a:p>
            <a:pPr>
              <a:spcAft>
                <a:spcPts val="1000"/>
              </a:spcAft>
            </a:pPr>
            <a:r>
              <a:rPr lang="en-US" sz="1800" b="0">
                <a:solidFill>
                  <a:srgbClr val="5D6E7C"/>
                </a:solidFill>
                <a:latin typeface="Aptos"/>
              </a:rPr>
              <a:t>Scope: a local mobile demo with PDF export and device sharing.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nel 2"/>
          <p:cNvSpPr/>
          <p:nvPr/>
        </p:nvSpPr>
        <p:spPr>
          <a:xfrm>
            <a:off x="0" y="0"/>
            <a:ext cx="12191695" cy="109728"/>
          </a:xfrm>
          <a:prstGeom prst="rect">
            <a:avLst/>
          </a:prstGeom>
          <a:solidFill>
            <a:srgbClr val="50A7FF"/>
          </a:solidFill>
          <a:ln>
            <a:noFill/>
          </a:ln>
        </p:spPr>
      </p:sp>
      <p:sp>
        <p:nvSpPr>
          <p:cNvPr id="3" name="Text 3"/>
          <p:cNvSpPr txBox="1"/>
          <p:nvPr/>
        </p:nvSpPr>
        <p:spPr>
          <a:xfrm>
            <a:off x="548640" y="347472"/>
            <a:ext cx="10972800" cy="274320"/>
          </a:xfrm>
          <a:prstGeom prst="rect">
            <a:avLst/>
          </a:prstGeom>
          <a:noFill/>
          <a:ln>
            <a:noFill/>
          </a:ln>
        </p:spPr>
        <p:txBody>
          <a:bodyPr wrap="square" lIns="0" rIns="0" tIns="0" bIns="0"/>
          <a:lstStyle/>
          <a:p>
            <a:pPr>
              <a:spcAft>
                <a:spcPts val="1000"/>
              </a:spcAft>
            </a:pPr>
            <a:r>
              <a:rPr lang="en-US" sz="1200" b="1">
                <a:solidFill>
                  <a:srgbClr val="50A7FF"/>
                </a:solidFill>
                <a:latin typeface="Aptos"/>
              </a:rPr>
              <a:t>SCREENS &amp; DESIGN FIDELITY</a:t>
            </a:r>
          </a:p>
        </p:txBody>
      </p:sp>
      <p:sp>
        <p:nvSpPr>
          <p:cNvPr id="4" name="Text 4"/>
          <p:cNvSpPr txBox="1"/>
          <p:nvPr/>
        </p:nvSpPr>
        <p:spPr>
          <a:xfrm>
            <a:off x="548640" y="868680"/>
            <a:ext cx="10972800" cy="914400"/>
          </a:xfrm>
          <a:prstGeom prst="rect">
            <a:avLst/>
          </a:prstGeom>
          <a:noFill/>
          <a:ln>
            <a:noFill/>
          </a:ln>
        </p:spPr>
        <p:txBody>
          <a:bodyPr wrap="square" lIns="0" rIns="0" tIns="0" bIns="0"/>
          <a:lstStyle/>
          <a:p>
            <a:pPr>
              <a:spcAft>
                <a:spcPts val="1000"/>
              </a:spcAft>
            </a:pPr>
            <a:r>
              <a:rPr lang="en-US" sz="3000" b="1">
                <a:solidFill>
                  <a:srgbClr val="103D66"/>
                </a:solidFill>
                <a:latin typeface="Aptos"/>
              </a:rPr>
              <a:t>One connected customer journey</a:t>
            </a:r>
          </a:p>
        </p:txBody>
      </p:sp>
      <p:sp>
        <p:nvSpPr>
          <p:cNvPr id="5" name="Text 5"/>
          <p:cNvSpPr txBox="1"/>
          <p:nvPr/>
        </p:nvSpPr>
        <p:spPr>
          <a:xfrm>
            <a:off x="548640" y="6510528"/>
            <a:ext cx="10058400" cy="182880"/>
          </a:xfrm>
          <a:prstGeom prst="rect">
            <a:avLst/>
          </a:prstGeom>
          <a:noFill/>
          <a:ln>
            <a:noFill/>
          </a:ln>
        </p:spPr>
        <p:txBody>
          <a:bodyPr wrap="square" lIns="0" rIns="0" tIns="0" bIns="0"/>
          <a:lstStyle/>
          <a:p>
            <a:pPr>
              <a:spcAft>
                <a:spcPts val="1000"/>
              </a:spcAft>
            </a:pPr>
            <a:r>
              <a:rPr lang="en-US" sz="1000" b="0">
                <a:solidFill>
                  <a:srgbClr val="5D6E7C"/>
                </a:solidFill>
                <a:latin typeface="Aptos"/>
              </a:rPr>
              <a:t>LANCEBOX  /  Senior Analyst, Mobile Development case study</a:t>
            </a:r>
          </a:p>
        </p:txBody>
      </p:sp>
      <p:sp>
        <p:nvSpPr>
          <p:cNvPr id="6" name="Text 6"/>
          <p:cNvSpPr txBox="1"/>
          <p:nvPr/>
        </p:nvSpPr>
        <p:spPr>
          <a:xfrm>
            <a:off x="10972800" y="6492240"/>
            <a:ext cx="640080" cy="228600"/>
          </a:xfrm>
          <a:prstGeom prst="rect">
            <a:avLst/>
          </a:prstGeom>
          <a:noFill/>
          <a:ln>
            <a:noFill/>
          </a:ln>
        </p:spPr>
        <p:txBody>
          <a:bodyPr wrap="square" lIns="0" rIns="0" tIns="0" bIns="0"/>
          <a:lstStyle/>
          <a:p>
            <a:pPr>
              <a:spcAft>
                <a:spcPts val="1000"/>
              </a:spcAft>
            </a:pPr>
            <a:r>
              <a:rPr lang="en-US" sz="1000" b="0">
                <a:solidFill>
                  <a:srgbClr val="5D6E7C"/>
                </a:solidFill>
                <a:latin typeface="Aptos"/>
              </a:rPr>
              <a:t>2 / 6</a:t>
            </a:r>
          </a:p>
        </p:txBody>
      </p:sp>
      <p:sp>
        <p:nvSpPr>
          <p:cNvPr id="7" name="Text 7"/>
          <p:cNvSpPr txBox="1"/>
          <p:nvPr/>
        </p:nvSpPr>
        <p:spPr>
          <a:xfrm>
            <a:off x="594360" y="1691640"/>
            <a:ext cx="4572000" cy="914400"/>
          </a:xfrm>
          <a:prstGeom prst="rect">
            <a:avLst/>
          </a:prstGeom>
          <a:noFill/>
          <a:ln>
            <a:noFill/>
          </a:ln>
        </p:spPr>
        <p:txBody>
          <a:bodyPr wrap="square" lIns="0" rIns="0" tIns="0" bIns="0"/>
          <a:lstStyle/>
          <a:p>
            <a:pPr>
              <a:spcAft>
                <a:spcPts val="1000"/>
              </a:spcAft>
            </a:pPr>
            <a:r>
              <a:rPr lang="en-US" sz="2200" b="1">
                <a:solidFill>
                  <a:srgbClr val="103D66"/>
                </a:solidFill>
                <a:latin typeface="Aptos"/>
              </a:rPr>
              <a:t>Sign up → profile → dashboard</a:t>
            </a:r>
          </a:p>
          <a:p>
            <a:pPr>
              <a:spcAft>
                <a:spcPts val="1000"/>
              </a:spcAft>
            </a:pPr>
            <a:r>
              <a:rPr lang="en-US" sz="2200" b="1">
                <a:solidFill>
                  <a:srgbClr val="103D66"/>
                </a:solidFill>
                <a:latin typeface="Aptos"/>
              </a:rPr>
              <a:t>Invoice details → bank → preview</a:t>
            </a:r>
          </a:p>
        </p:txBody>
      </p:sp>
      <p:sp>
        <p:nvSpPr>
          <p:cNvPr id="8" name="Text 8"/>
          <p:cNvSpPr txBox="1"/>
          <p:nvPr/>
        </p:nvSpPr>
        <p:spPr>
          <a:xfrm>
            <a:off x="594360" y="2880360"/>
            <a:ext cx="4251960" cy="2286000"/>
          </a:xfrm>
          <a:prstGeom prst="rect">
            <a:avLst/>
          </a:prstGeom>
          <a:noFill/>
          <a:ln>
            <a:noFill/>
          </a:ln>
        </p:spPr>
        <p:txBody>
          <a:bodyPr wrap="square" lIns="0" rIns="0" tIns="0" bIns="0"/>
          <a:lstStyle/>
          <a:p>
            <a:pPr>
              <a:spcAft>
                <a:spcPts val="1000"/>
              </a:spcAft>
            </a:pPr>
            <a:r>
              <a:rPr lang="en-US" sz="2000" b="0">
                <a:solidFill>
                  <a:srgbClr val="203345"/>
                </a:solidFill>
                <a:latin typeface="Aptos"/>
              </a:rPr>
              <a:t>• Validated inputs and completion ticks</a:t>
            </a:r>
          </a:p>
          <a:p>
            <a:pPr>
              <a:spcAft>
                <a:spcPts val="1000"/>
              </a:spcAft>
            </a:pPr>
            <a:r>
              <a:rPr lang="en-US" sz="2000" b="0">
                <a:solidFill>
                  <a:srgbClr val="203345"/>
                </a:solidFill>
                <a:latin typeface="Aptos"/>
              </a:rPr>
              <a:t>• Logo upload and account-type choice</a:t>
            </a:r>
          </a:p>
          <a:p>
            <a:pPr>
              <a:spcAft>
                <a:spcPts val="1000"/>
              </a:spcAft>
            </a:pPr>
            <a:r>
              <a:rPr lang="en-US" sz="2000" b="0">
                <a:solidFill>
                  <a:srgbClr val="203345"/>
                </a:solidFill>
                <a:latin typeface="Aptos"/>
              </a:rPr>
              <a:t>• Editable items, VAT and shipping</a:t>
            </a:r>
          </a:p>
          <a:p>
            <a:pPr>
              <a:spcAft>
                <a:spcPts val="1000"/>
              </a:spcAft>
            </a:pPr>
            <a:r>
              <a:rPr lang="en-US" sz="2000" b="0">
                <a:solidFill>
                  <a:srgbClr val="203345"/>
                </a:solidFill>
                <a:latin typeface="Aptos"/>
              </a:rPr>
              <a:t>• PDF download and email-app handoff</a:t>
            </a:r>
          </a:p>
        </p:txBody>
      </p:sp>
      <p:sp>
        <p:nvSpPr>
          <p:cNvPr id="9" name="Text 9"/>
          <p:cNvSpPr txBox="1"/>
          <p:nvPr/>
        </p:nvSpPr>
        <p:spPr>
          <a:xfrm>
            <a:off x="594360" y="5623560"/>
            <a:ext cx="4297680" cy="548640"/>
          </a:xfrm>
          <a:prstGeom prst="rect">
            <a:avLst/>
          </a:prstGeom>
          <a:noFill/>
          <a:ln>
            <a:noFill/>
          </a:ln>
        </p:spPr>
        <p:txBody>
          <a:bodyPr wrap="square" lIns="0" rIns="0" tIns="0" bIns="0"/>
          <a:lstStyle/>
          <a:p>
            <a:pPr>
              <a:spcAft>
                <a:spcPts val="1000"/>
              </a:spcAft>
            </a:pPr>
            <a:r>
              <a:rPr lang="en-US" sz="1700" b="0">
                <a:solidFill>
                  <a:srgbClr val="5D6E7C"/>
                </a:solidFill>
                <a:latin typeface="Aptos"/>
              </a:rPr>
              <a:t>Pretendard typography, blue accents and reusable controls.</a:t>
            </a:r>
          </a:p>
        </p:txBody>
      </p:sp>
      <p:pic>
        <p:nvPicPr>
          <p:cNvPr id="10" name="Design reference"/>
          <p:cNvPicPr>
            <a:picLocks noChangeAspect="1"/>
          </p:cNvPicPr>
          <p:nvPr/>
        </p:nvPicPr>
        <p:blipFill>
          <a:blip r:embed="rIdImage1"/>
          <a:stretch>
            <a:fillRect/>
          </a:stretch>
        </p:blipFill>
        <p:spPr>
          <a:xfrm>
            <a:off x="5175786" y="1847088"/>
            <a:ext cx="1901388" cy="4114800"/>
          </a:xfrm>
          <a:prstGeom prst="rect">
            <a:avLst/>
          </a:prstGeom>
        </p:spPr>
      </p:pic>
      <p:sp>
        <p:nvSpPr>
          <p:cNvPr id="11" name="Text 11"/>
          <p:cNvSpPr txBox="1"/>
          <p:nvPr/>
        </p:nvSpPr>
        <p:spPr>
          <a:xfrm>
            <a:off x="5166360" y="6053328"/>
            <a:ext cx="1965960" cy="228600"/>
          </a:xfrm>
          <a:prstGeom prst="rect">
            <a:avLst/>
          </a:prstGeom>
          <a:noFill/>
          <a:ln>
            <a:noFill/>
          </a:ln>
        </p:spPr>
        <p:txBody>
          <a:bodyPr wrap="square" lIns="0" rIns="0" tIns="0" bIns="0"/>
          <a:lstStyle/>
          <a:p>
            <a:pPr>
              <a:spcAft>
                <a:spcPts val="1000"/>
              </a:spcAft>
            </a:pPr>
            <a:r>
              <a:rPr lang="en-US" sz="1200" b="1">
                <a:solidFill>
                  <a:srgbClr val="103D66"/>
                </a:solidFill>
                <a:latin typeface="Aptos"/>
              </a:rPr>
              <a:t>Sign up</a:t>
            </a:r>
          </a:p>
        </p:txBody>
      </p:sp>
      <p:pic>
        <p:nvPicPr>
          <p:cNvPr id="12" name="Design reference"/>
          <p:cNvPicPr>
            <a:picLocks noChangeAspect="1"/>
          </p:cNvPicPr>
          <p:nvPr/>
        </p:nvPicPr>
        <p:blipFill>
          <a:blip r:embed="rIdImage2"/>
          <a:stretch>
            <a:fillRect/>
          </a:stretch>
        </p:blipFill>
        <p:spPr>
          <a:xfrm>
            <a:off x="7324626" y="1847088"/>
            <a:ext cx="1901388" cy="4114800"/>
          </a:xfrm>
          <a:prstGeom prst="rect">
            <a:avLst/>
          </a:prstGeom>
        </p:spPr>
      </p:pic>
      <p:sp>
        <p:nvSpPr>
          <p:cNvPr id="13" name="Text 13"/>
          <p:cNvSpPr txBox="1"/>
          <p:nvPr/>
        </p:nvSpPr>
        <p:spPr>
          <a:xfrm>
            <a:off x="7315200" y="6053328"/>
            <a:ext cx="1965960" cy="228600"/>
          </a:xfrm>
          <a:prstGeom prst="rect">
            <a:avLst/>
          </a:prstGeom>
          <a:noFill/>
          <a:ln>
            <a:noFill/>
          </a:ln>
        </p:spPr>
        <p:txBody>
          <a:bodyPr wrap="square" lIns="0" rIns="0" tIns="0" bIns="0"/>
          <a:lstStyle/>
          <a:p>
            <a:pPr>
              <a:spcAft>
                <a:spcPts val="1000"/>
              </a:spcAft>
            </a:pPr>
            <a:r>
              <a:rPr lang="en-US" sz="1200" b="1">
                <a:solidFill>
                  <a:srgbClr val="103D66"/>
                </a:solidFill>
                <a:latin typeface="Aptos"/>
              </a:rPr>
              <a:t>Dashboard</a:t>
            </a:r>
          </a:p>
        </p:txBody>
      </p:sp>
      <p:pic>
        <p:nvPicPr>
          <p:cNvPr id="14" name="Design reference"/>
          <p:cNvPicPr>
            <a:picLocks noChangeAspect="1"/>
          </p:cNvPicPr>
          <p:nvPr/>
        </p:nvPicPr>
        <p:blipFill>
          <a:blip r:embed="rIdImage3"/>
          <a:stretch>
            <a:fillRect/>
          </a:stretch>
        </p:blipFill>
        <p:spPr>
          <a:xfrm>
            <a:off x="9536565" y="1847088"/>
            <a:ext cx="1775190" cy="4114800"/>
          </a:xfrm>
          <a:prstGeom prst="rect">
            <a:avLst/>
          </a:prstGeom>
        </p:spPr>
      </p:pic>
      <p:sp>
        <p:nvSpPr>
          <p:cNvPr id="15" name="Text 15"/>
          <p:cNvSpPr txBox="1"/>
          <p:nvPr/>
        </p:nvSpPr>
        <p:spPr>
          <a:xfrm>
            <a:off x="9464040" y="6053328"/>
            <a:ext cx="1965960" cy="228600"/>
          </a:xfrm>
          <a:prstGeom prst="rect">
            <a:avLst/>
          </a:prstGeom>
          <a:noFill/>
          <a:ln>
            <a:noFill/>
          </a:ln>
        </p:spPr>
        <p:txBody>
          <a:bodyPr wrap="square" lIns="0" rIns="0" tIns="0" bIns="0"/>
          <a:lstStyle/>
          <a:p>
            <a:pPr>
              <a:spcAft>
                <a:spcPts val="1000"/>
              </a:spcAft>
            </a:pPr>
            <a:r>
              <a:rPr lang="en-US" sz="1200" b="1">
                <a:solidFill>
                  <a:srgbClr val="103D66"/>
                </a:solidFill>
                <a:latin typeface="Aptos"/>
              </a:rPr>
              <a:t>Preview</a:t>
            </a:r>
          </a:p>
        </p:txBody>
      </p:sp>
      <p:sp>
        <p:nvSpPr>
          <p:cNvPr id="16" name="Text 16"/>
          <p:cNvSpPr txBox="1"/>
          <p:nvPr/>
        </p:nvSpPr>
        <p:spPr>
          <a:xfrm>
            <a:off x="5166360" y="1554480"/>
            <a:ext cx="6309360" cy="201168"/>
          </a:xfrm>
          <a:prstGeom prst="rect">
            <a:avLst/>
          </a:prstGeom>
          <a:noFill/>
          <a:ln>
            <a:noFill/>
          </a:ln>
        </p:spPr>
        <p:txBody>
          <a:bodyPr wrap="square" lIns="0" rIns="0" tIns="0" bIns="0"/>
          <a:lstStyle/>
          <a:p>
            <a:pPr>
              <a:spcAft>
                <a:spcPts val="1000"/>
              </a:spcAft>
            </a:pPr>
            <a:r>
              <a:rPr lang="en-US" sz="1000" b="0">
                <a:solidFill>
                  <a:srgbClr val="5D6E7C"/>
                </a:solidFill>
                <a:latin typeface="Aptos"/>
              </a:rPr>
              <a:t>SUPPLIED DESIGN REFERENCES — not runtime screenshots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nel 2"/>
          <p:cNvSpPr/>
          <p:nvPr/>
        </p:nvSpPr>
        <p:spPr>
          <a:xfrm>
            <a:off x="0" y="0"/>
            <a:ext cx="12191695" cy="109728"/>
          </a:xfrm>
          <a:prstGeom prst="rect">
            <a:avLst/>
          </a:prstGeom>
          <a:solidFill>
            <a:srgbClr val="50A7FF"/>
          </a:solidFill>
          <a:ln>
            <a:noFill/>
          </a:ln>
        </p:spPr>
      </p:sp>
      <p:sp>
        <p:nvSpPr>
          <p:cNvPr id="3" name="Text 3"/>
          <p:cNvSpPr txBox="1"/>
          <p:nvPr/>
        </p:nvSpPr>
        <p:spPr>
          <a:xfrm>
            <a:off x="548640" y="347472"/>
            <a:ext cx="10972800" cy="274320"/>
          </a:xfrm>
          <a:prstGeom prst="rect">
            <a:avLst/>
          </a:prstGeom>
          <a:noFill/>
          <a:ln>
            <a:noFill/>
          </a:ln>
        </p:spPr>
        <p:txBody>
          <a:bodyPr wrap="square" lIns="0" rIns="0" tIns="0" bIns="0"/>
          <a:lstStyle/>
          <a:p>
            <a:pPr>
              <a:spcAft>
                <a:spcPts val="1000"/>
              </a:spcAft>
            </a:pPr>
            <a:r>
              <a:rPr lang="en-US" sz="1200" b="1">
                <a:solidFill>
                  <a:srgbClr val="50A7FF"/>
                </a:solidFill>
                <a:latin typeface="Aptos"/>
              </a:rPr>
              <a:t>CODE QUALITY • STATE MANAGEMENT • GROWTH</a:t>
            </a:r>
          </a:p>
        </p:txBody>
      </p:sp>
      <p:sp>
        <p:nvSpPr>
          <p:cNvPr id="4" name="Text 4"/>
          <p:cNvSpPr txBox="1"/>
          <p:nvPr/>
        </p:nvSpPr>
        <p:spPr>
          <a:xfrm>
            <a:off x="548640" y="868680"/>
            <a:ext cx="10972800" cy="914400"/>
          </a:xfrm>
          <a:prstGeom prst="rect">
            <a:avLst/>
          </a:prstGeom>
          <a:noFill/>
          <a:ln>
            <a:noFill/>
          </a:ln>
        </p:spPr>
        <p:txBody>
          <a:bodyPr wrap="square" lIns="0" rIns="0" tIns="0" bIns="0"/>
          <a:lstStyle/>
          <a:p>
            <a:pPr>
              <a:spcAft>
                <a:spcPts val="1000"/>
              </a:spcAft>
            </a:pPr>
            <a:r>
              <a:rPr lang="en-US" sz="3000" b="1">
                <a:solidFill>
                  <a:srgbClr val="103D66"/>
                </a:solidFill>
                <a:latin typeface="Aptos"/>
              </a:rPr>
              <a:t>Clear code with one shared state owner</a:t>
            </a:r>
          </a:p>
        </p:txBody>
      </p:sp>
      <p:sp>
        <p:nvSpPr>
          <p:cNvPr id="5" name="Text 5"/>
          <p:cNvSpPr txBox="1"/>
          <p:nvPr/>
        </p:nvSpPr>
        <p:spPr>
          <a:xfrm>
            <a:off x="548640" y="6510528"/>
            <a:ext cx="10058400" cy="182880"/>
          </a:xfrm>
          <a:prstGeom prst="rect">
            <a:avLst/>
          </a:prstGeom>
          <a:noFill/>
          <a:ln>
            <a:noFill/>
          </a:ln>
        </p:spPr>
        <p:txBody>
          <a:bodyPr wrap="square" lIns="0" rIns="0" tIns="0" bIns="0"/>
          <a:lstStyle/>
          <a:p>
            <a:pPr>
              <a:spcAft>
                <a:spcPts val="1000"/>
              </a:spcAft>
            </a:pPr>
            <a:r>
              <a:rPr lang="en-US" sz="1000" b="0">
                <a:solidFill>
                  <a:srgbClr val="5D6E7C"/>
                </a:solidFill>
                <a:latin typeface="Aptos"/>
              </a:rPr>
              <a:t>LANCEBOX  /  Senior Analyst, Mobile Development case study</a:t>
            </a:r>
          </a:p>
        </p:txBody>
      </p:sp>
      <p:sp>
        <p:nvSpPr>
          <p:cNvPr id="6" name="Text 6"/>
          <p:cNvSpPr txBox="1"/>
          <p:nvPr/>
        </p:nvSpPr>
        <p:spPr>
          <a:xfrm>
            <a:off x="10972800" y="6492240"/>
            <a:ext cx="640080" cy="228600"/>
          </a:xfrm>
          <a:prstGeom prst="rect">
            <a:avLst/>
          </a:prstGeom>
          <a:noFill/>
          <a:ln>
            <a:noFill/>
          </a:ln>
        </p:spPr>
        <p:txBody>
          <a:bodyPr wrap="square" lIns="0" rIns="0" tIns="0" bIns="0"/>
          <a:lstStyle/>
          <a:p>
            <a:pPr>
              <a:spcAft>
                <a:spcPts val="1000"/>
              </a:spcAft>
            </a:pPr>
            <a:r>
              <a:rPr lang="en-US" sz="1000" b="0">
                <a:solidFill>
                  <a:srgbClr val="5D6E7C"/>
                </a:solidFill>
                <a:latin typeface="Aptos"/>
              </a:rPr>
              <a:t>3 / 6</a:t>
            </a:r>
          </a:p>
        </p:txBody>
      </p:sp>
      <p:sp>
        <p:nvSpPr>
          <p:cNvPr id="7" name="Panel 7"/>
          <p:cNvSpPr/>
          <p:nvPr/>
        </p:nvSpPr>
        <p:spPr>
          <a:xfrm>
            <a:off x="594360" y="1874520"/>
            <a:ext cx="3337560" cy="1645920"/>
          </a:xfrm>
          <a:prstGeom prst="roundRect">
            <a:avLst/>
          </a:prstGeom>
          <a:solidFill>
            <a:srgbClr val="EAF4FC"/>
          </a:solidFill>
          <a:ln>
            <a:noFill/>
          </a:ln>
        </p:spPr>
      </p:sp>
      <p:sp>
        <p:nvSpPr>
          <p:cNvPr id="8" name="Text 8"/>
          <p:cNvSpPr txBox="1"/>
          <p:nvPr/>
        </p:nvSpPr>
        <p:spPr>
          <a:xfrm>
            <a:off x="777240" y="2103120"/>
            <a:ext cx="2971800" cy="365760"/>
          </a:xfrm>
          <a:prstGeom prst="rect">
            <a:avLst/>
          </a:prstGeom>
          <a:noFill/>
          <a:ln>
            <a:noFill/>
          </a:ln>
        </p:spPr>
        <p:txBody>
          <a:bodyPr wrap="square" lIns="0" rIns="0" tIns="0" bIns="0"/>
          <a:lstStyle/>
          <a:p>
            <a:pPr>
              <a:spcAft>
                <a:spcPts val="1000"/>
              </a:spcAft>
            </a:pPr>
            <a:r>
              <a:rPr lang="en-US" sz="2200" b="1">
                <a:solidFill>
                  <a:srgbClr val="103D66"/>
                </a:solidFill>
                <a:latin typeface="Aptos"/>
              </a:rPr>
              <a:t>Screens</a:t>
            </a:r>
          </a:p>
        </p:txBody>
      </p:sp>
      <p:sp>
        <p:nvSpPr>
          <p:cNvPr id="9" name="Text 9"/>
          <p:cNvSpPr txBox="1"/>
          <p:nvPr/>
        </p:nvSpPr>
        <p:spPr>
          <a:xfrm>
            <a:off x="777240" y="2651760"/>
            <a:ext cx="2971800" cy="731520"/>
          </a:xfrm>
          <a:prstGeom prst="rect">
            <a:avLst/>
          </a:prstGeom>
          <a:noFill/>
          <a:ln>
            <a:noFill/>
          </a:ln>
        </p:spPr>
        <p:txBody>
          <a:bodyPr wrap="square" lIns="0" rIns="0" tIns="0" bIns="0"/>
          <a:lstStyle/>
          <a:p>
            <a:pPr>
              <a:spcAft>
                <a:spcPts val="1000"/>
              </a:spcAft>
            </a:pPr>
            <a:r>
              <a:rPr lang="en-US" sz="1800" b="0">
                <a:solidFill>
                  <a:srgbClr val="203345"/>
                </a:solidFill>
                <a:latin typeface="Aptos"/>
              </a:rPr>
              <a:t>Show the design and handle user actions.</a:t>
            </a:r>
          </a:p>
        </p:txBody>
      </p:sp>
      <p:sp>
        <p:nvSpPr>
          <p:cNvPr id="10" name="Panel 10"/>
          <p:cNvSpPr/>
          <p:nvPr/>
        </p:nvSpPr>
        <p:spPr>
          <a:xfrm>
            <a:off x="4434840" y="1874520"/>
            <a:ext cx="3337560" cy="1645920"/>
          </a:xfrm>
          <a:prstGeom prst="roundRect">
            <a:avLst/>
          </a:prstGeom>
          <a:solidFill>
            <a:srgbClr val="EAF4FC"/>
          </a:solidFill>
          <a:ln>
            <a:noFill/>
          </a:ln>
        </p:spPr>
      </p:sp>
      <p:sp>
        <p:nvSpPr>
          <p:cNvPr id="11" name="Text 11"/>
          <p:cNvSpPr txBox="1"/>
          <p:nvPr/>
        </p:nvSpPr>
        <p:spPr>
          <a:xfrm>
            <a:off x="4617720" y="2103120"/>
            <a:ext cx="2971800" cy="365760"/>
          </a:xfrm>
          <a:prstGeom prst="rect">
            <a:avLst/>
          </a:prstGeom>
          <a:noFill/>
          <a:ln>
            <a:noFill/>
          </a:ln>
        </p:spPr>
        <p:txBody>
          <a:bodyPr wrap="square" lIns="0" rIns="0" tIns="0" bIns="0"/>
          <a:lstStyle/>
          <a:p>
            <a:pPr>
              <a:spcAft>
                <a:spcPts val="1000"/>
              </a:spcAft>
            </a:pPr>
            <a:r>
              <a:rPr lang="en-US" sz="2200" b="1">
                <a:solidFill>
                  <a:srgbClr val="103D66"/>
                </a:solidFill>
                <a:latin typeface="Aptos"/>
              </a:rPr>
              <a:t>Riverpod store</a:t>
            </a:r>
          </a:p>
        </p:txBody>
      </p:sp>
      <p:sp>
        <p:nvSpPr>
          <p:cNvPr id="12" name="Text 12"/>
          <p:cNvSpPr txBox="1"/>
          <p:nvPr/>
        </p:nvSpPr>
        <p:spPr>
          <a:xfrm>
            <a:off x="4617720" y="2651760"/>
            <a:ext cx="2971800" cy="731520"/>
          </a:xfrm>
          <a:prstGeom prst="rect">
            <a:avLst/>
          </a:prstGeom>
          <a:noFill/>
          <a:ln>
            <a:noFill/>
          </a:ln>
        </p:spPr>
        <p:txBody>
          <a:bodyPr wrap="square" lIns="0" rIns="0" tIns="0" bIns="0"/>
          <a:lstStyle/>
          <a:p>
            <a:pPr>
              <a:spcAft>
                <a:spcPts val="1000"/>
              </a:spcAft>
            </a:pPr>
            <a:r>
              <a:rPr lang="en-US" sz="1800" b="0">
                <a:solidFill>
                  <a:srgbClr val="203345"/>
                </a:solidFill>
                <a:latin typeface="Aptos"/>
              </a:rPr>
              <a:t>Owns profile and saved-invoice snapshots.</a:t>
            </a:r>
          </a:p>
        </p:txBody>
      </p:sp>
      <p:sp>
        <p:nvSpPr>
          <p:cNvPr id="13" name="Panel 13"/>
          <p:cNvSpPr/>
          <p:nvPr/>
        </p:nvSpPr>
        <p:spPr>
          <a:xfrm>
            <a:off x="8275320" y="1874520"/>
            <a:ext cx="3337560" cy="1645920"/>
          </a:xfrm>
          <a:prstGeom prst="roundRect">
            <a:avLst/>
          </a:prstGeom>
          <a:solidFill>
            <a:srgbClr val="EAF4FC"/>
          </a:solidFill>
          <a:ln>
            <a:noFill/>
          </a:ln>
        </p:spPr>
      </p:sp>
      <p:sp>
        <p:nvSpPr>
          <p:cNvPr id="14" name="Text 14"/>
          <p:cNvSpPr txBox="1"/>
          <p:nvPr/>
        </p:nvSpPr>
        <p:spPr>
          <a:xfrm>
            <a:off x="8458200" y="2103120"/>
            <a:ext cx="2971800" cy="365760"/>
          </a:xfrm>
          <a:prstGeom prst="rect">
            <a:avLst/>
          </a:prstGeom>
          <a:noFill/>
          <a:ln>
            <a:noFill/>
          </a:ln>
        </p:spPr>
        <p:txBody>
          <a:bodyPr wrap="square" lIns="0" rIns="0" tIns="0" bIns="0"/>
          <a:lstStyle/>
          <a:p>
            <a:pPr>
              <a:spcAft>
                <a:spcPts val="1000"/>
              </a:spcAft>
            </a:pPr>
            <a:r>
              <a:rPr lang="en-US" sz="2200" b="1">
                <a:solidFill>
                  <a:srgbClr val="103D66"/>
                </a:solidFill>
                <a:latin typeface="Aptos"/>
              </a:rPr>
              <a:t>Local storage</a:t>
            </a:r>
          </a:p>
        </p:txBody>
      </p:sp>
      <p:sp>
        <p:nvSpPr>
          <p:cNvPr id="15" name="Text 15"/>
          <p:cNvSpPr txBox="1"/>
          <p:nvPr/>
        </p:nvSpPr>
        <p:spPr>
          <a:xfrm>
            <a:off x="8458200" y="2651760"/>
            <a:ext cx="2971800" cy="731520"/>
          </a:xfrm>
          <a:prstGeom prst="rect">
            <a:avLst/>
          </a:prstGeom>
          <a:noFill/>
          <a:ln>
            <a:noFill/>
          </a:ln>
        </p:spPr>
        <p:txBody>
          <a:bodyPr wrap="square" lIns="0" rIns="0" tIns="0" bIns="0"/>
          <a:lstStyle/>
          <a:p>
            <a:pPr>
              <a:spcAft>
                <a:spcPts val="1000"/>
              </a:spcAft>
            </a:pPr>
            <a:r>
              <a:rPr lang="en-US" sz="1800" b="0">
                <a:solidFill>
                  <a:srgbClr val="203345"/>
                </a:solidFill>
                <a:latin typeface="Aptos"/>
              </a:rPr>
              <a:t>Keeps small app data on this device.</a:t>
            </a:r>
          </a:p>
        </p:txBody>
      </p:sp>
      <p:sp>
        <p:nvSpPr>
          <p:cNvPr id="16" name="Text 16"/>
          <p:cNvSpPr txBox="1"/>
          <p:nvPr/>
        </p:nvSpPr>
        <p:spPr>
          <a:xfrm>
            <a:off x="4005072" y="2468880"/>
            <a:ext cx="365760" cy="457200"/>
          </a:xfrm>
          <a:prstGeom prst="rect">
            <a:avLst/>
          </a:prstGeom>
          <a:noFill/>
          <a:ln>
            <a:noFill/>
          </a:ln>
        </p:spPr>
        <p:txBody>
          <a:bodyPr wrap="square" lIns="0" rIns="0" tIns="0" bIns="0"/>
          <a:lstStyle/>
          <a:p>
            <a:pPr>
              <a:spcAft>
                <a:spcPts val="1000"/>
              </a:spcAft>
            </a:pPr>
            <a:r>
              <a:rPr lang="en-US" sz="2400" b="1">
                <a:solidFill>
                  <a:srgbClr val="50A7FF"/>
                </a:solidFill>
                <a:latin typeface="Aptos"/>
              </a:rPr>
              <a:t>→</a:t>
            </a:r>
          </a:p>
        </p:txBody>
      </p:sp>
      <p:sp>
        <p:nvSpPr>
          <p:cNvPr id="17" name="Text 17"/>
          <p:cNvSpPr txBox="1"/>
          <p:nvPr/>
        </p:nvSpPr>
        <p:spPr>
          <a:xfrm>
            <a:off x="7845552" y="2468880"/>
            <a:ext cx="365760" cy="457200"/>
          </a:xfrm>
          <a:prstGeom prst="rect">
            <a:avLst/>
          </a:prstGeom>
          <a:noFill/>
          <a:ln>
            <a:noFill/>
          </a:ln>
        </p:spPr>
        <p:txBody>
          <a:bodyPr wrap="square" lIns="0" rIns="0" tIns="0" bIns="0"/>
          <a:lstStyle/>
          <a:p>
            <a:pPr>
              <a:spcAft>
                <a:spcPts val="1000"/>
              </a:spcAft>
            </a:pPr>
            <a:r>
              <a:rPr lang="en-US" sz="2400" b="1">
                <a:solidFill>
                  <a:srgbClr val="50A7FF"/>
                </a:solidFill>
                <a:latin typeface="Aptos"/>
              </a:rPr>
              <a:t>→</a:t>
            </a:r>
          </a:p>
        </p:txBody>
      </p:sp>
      <p:sp>
        <p:nvSpPr>
          <p:cNvPr id="18" name="Text 18"/>
          <p:cNvSpPr txBox="1"/>
          <p:nvPr/>
        </p:nvSpPr>
        <p:spPr>
          <a:xfrm>
            <a:off x="594360" y="4023360"/>
            <a:ext cx="5303520" cy="1554480"/>
          </a:xfrm>
          <a:prstGeom prst="rect">
            <a:avLst/>
          </a:prstGeom>
          <a:noFill/>
          <a:ln>
            <a:noFill/>
          </a:ln>
        </p:spPr>
        <p:txBody>
          <a:bodyPr wrap="square" lIns="0" rIns="0" tIns="0" bIns="0"/>
          <a:lstStyle/>
          <a:p>
            <a:pPr>
              <a:spcAft>
                <a:spcPts val="1000"/>
              </a:spcAft>
            </a:pPr>
            <a:r>
              <a:rPr lang="en-US" sz="2100" b="1">
                <a:solidFill>
                  <a:srgbClr val="103D66"/>
                </a:solidFill>
                <a:latin typeface="Aptos"/>
              </a:rPr>
              <a:t>Shared data: appStoreProvider</a:t>
            </a:r>
          </a:p>
          <a:p>
            <a:pPr>
              <a:spcAft>
                <a:spcPts val="1000"/>
              </a:spcAft>
            </a:pPr>
            <a:r>
              <a:rPr lang="en-US" sz="2100" b="1">
                <a:solidFill>
                  <a:srgbClr val="103D66"/>
                </a:solidFill>
                <a:latin typeface="Aptos"/>
              </a:rPr>
              <a:t>Local form data: InvoiceFormData</a:t>
            </a:r>
          </a:p>
          <a:p>
            <a:pPr>
              <a:spcAft>
                <a:spcPts val="1000"/>
              </a:spcAft>
            </a:pPr>
            <a:r>
              <a:rPr lang="en-US" sz="2100" b="1">
                <a:solidFill>
                  <a:srgbClr val="103D66"/>
                </a:solidFill>
                <a:latin typeface="Aptos"/>
              </a:rPr>
              <a:t>Calculations: Invoice model</a:t>
            </a:r>
          </a:p>
        </p:txBody>
      </p:sp>
      <p:sp>
        <p:nvSpPr>
          <p:cNvPr id="19" name="Text 19"/>
          <p:cNvSpPr txBox="1"/>
          <p:nvPr/>
        </p:nvSpPr>
        <p:spPr>
          <a:xfrm>
            <a:off x="6400800" y="4023360"/>
            <a:ext cx="5120640" cy="1737360"/>
          </a:xfrm>
          <a:prstGeom prst="rect">
            <a:avLst/>
          </a:prstGeom>
          <a:noFill/>
          <a:ln>
            <a:noFill/>
          </a:ln>
        </p:spPr>
        <p:txBody>
          <a:bodyPr wrap="square" lIns="0" rIns="0" tIns="0" bIns="0"/>
          <a:lstStyle/>
          <a:p>
            <a:pPr>
              <a:spcAft>
                <a:spcPts val="1000"/>
              </a:spcAft>
            </a:pPr>
            <a:r>
              <a:rPr lang="en-US" sz="2100" b="0">
                <a:solidFill>
                  <a:srgbClr val="203345"/>
                </a:solidFill>
                <a:latin typeface="Aptos"/>
              </a:rPr>
              <a:t>Small files separate layout, validation and actions.</a:t>
            </a:r>
          </a:p>
          <a:p>
            <a:pPr>
              <a:spcAft>
                <a:spcPts val="1000"/>
              </a:spcAft>
            </a:pPr>
            <a:r>
              <a:rPr lang="en-US" sz="2100" b="0">
                <a:solidFill>
                  <a:srgbClr val="203345"/>
                </a:solidFill>
                <a:latin typeface="Aptos"/>
              </a:rPr>
              <a:t>Storage succeeds before Riverpod publishes a new snapshot.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nel 2"/>
          <p:cNvSpPr/>
          <p:nvPr/>
        </p:nvSpPr>
        <p:spPr>
          <a:xfrm>
            <a:off x="0" y="0"/>
            <a:ext cx="12191695" cy="109728"/>
          </a:xfrm>
          <a:prstGeom prst="rect">
            <a:avLst/>
          </a:prstGeom>
          <a:solidFill>
            <a:srgbClr val="50A7FF"/>
          </a:solidFill>
          <a:ln>
            <a:noFill/>
          </a:ln>
        </p:spPr>
      </p:sp>
      <p:sp>
        <p:nvSpPr>
          <p:cNvPr id="3" name="Text 3"/>
          <p:cNvSpPr txBox="1"/>
          <p:nvPr/>
        </p:nvSpPr>
        <p:spPr>
          <a:xfrm>
            <a:off x="548640" y="347472"/>
            <a:ext cx="10972800" cy="274320"/>
          </a:xfrm>
          <a:prstGeom prst="rect">
            <a:avLst/>
          </a:prstGeom>
          <a:noFill/>
          <a:ln>
            <a:noFill/>
          </a:ln>
        </p:spPr>
        <p:txBody>
          <a:bodyPr wrap="square" lIns="0" rIns="0" tIns="0" bIns="0"/>
          <a:lstStyle/>
          <a:p>
            <a:pPr>
              <a:spcAft>
                <a:spcPts val="1000"/>
              </a:spcAft>
            </a:pPr>
            <a:r>
              <a:rPr lang="en-US" sz="1200" b="1">
                <a:solidFill>
                  <a:srgbClr val="50A7FF"/>
                </a:solidFill>
                <a:latin typeface="Aptos"/>
              </a:rPr>
              <a:t>ERROR HANDLING • RESPONSIVENESS • RESOURCES</a:t>
            </a:r>
          </a:p>
        </p:txBody>
      </p:sp>
      <p:sp>
        <p:nvSpPr>
          <p:cNvPr id="4" name="Text 4"/>
          <p:cNvSpPr txBox="1"/>
          <p:nvPr/>
        </p:nvSpPr>
        <p:spPr>
          <a:xfrm>
            <a:off x="548640" y="868680"/>
            <a:ext cx="10972800" cy="914400"/>
          </a:xfrm>
          <a:prstGeom prst="rect">
            <a:avLst/>
          </a:prstGeom>
          <a:noFill/>
          <a:ln>
            <a:noFill/>
          </a:ln>
        </p:spPr>
        <p:txBody>
          <a:bodyPr wrap="square" lIns="0" rIns="0" tIns="0" bIns="0"/>
          <a:lstStyle/>
          <a:p>
            <a:pPr>
              <a:spcAft>
                <a:spcPts val="1000"/>
              </a:spcAft>
            </a:pPr>
            <a:r>
              <a:rPr lang="en-US" sz="3000" b="1">
                <a:solidFill>
                  <a:srgbClr val="103D66"/>
                </a:solidFill>
                <a:latin typeface="Aptos"/>
              </a:rPr>
              <a:t>Guardrails for a reliable mobile flow</a:t>
            </a:r>
          </a:p>
        </p:txBody>
      </p:sp>
      <p:sp>
        <p:nvSpPr>
          <p:cNvPr id="5" name="Text 5"/>
          <p:cNvSpPr txBox="1"/>
          <p:nvPr/>
        </p:nvSpPr>
        <p:spPr>
          <a:xfrm>
            <a:off x="548640" y="6510528"/>
            <a:ext cx="10058400" cy="182880"/>
          </a:xfrm>
          <a:prstGeom prst="rect">
            <a:avLst/>
          </a:prstGeom>
          <a:noFill/>
          <a:ln>
            <a:noFill/>
          </a:ln>
        </p:spPr>
        <p:txBody>
          <a:bodyPr wrap="square" lIns="0" rIns="0" tIns="0" bIns="0"/>
          <a:lstStyle/>
          <a:p>
            <a:pPr>
              <a:spcAft>
                <a:spcPts val="1000"/>
              </a:spcAft>
            </a:pPr>
            <a:r>
              <a:rPr lang="en-US" sz="1000" b="0">
                <a:solidFill>
                  <a:srgbClr val="5D6E7C"/>
                </a:solidFill>
                <a:latin typeface="Aptos"/>
              </a:rPr>
              <a:t>LANCEBOX  /  Senior Analyst, Mobile Development case study</a:t>
            </a:r>
          </a:p>
        </p:txBody>
      </p:sp>
      <p:sp>
        <p:nvSpPr>
          <p:cNvPr id="6" name="Text 6"/>
          <p:cNvSpPr txBox="1"/>
          <p:nvPr/>
        </p:nvSpPr>
        <p:spPr>
          <a:xfrm>
            <a:off x="10972800" y="6492240"/>
            <a:ext cx="640080" cy="228600"/>
          </a:xfrm>
          <a:prstGeom prst="rect">
            <a:avLst/>
          </a:prstGeom>
          <a:noFill/>
          <a:ln>
            <a:noFill/>
          </a:ln>
        </p:spPr>
        <p:txBody>
          <a:bodyPr wrap="square" lIns="0" rIns="0" tIns="0" bIns="0"/>
          <a:lstStyle/>
          <a:p>
            <a:pPr>
              <a:spcAft>
                <a:spcPts val="1000"/>
              </a:spcAft>
            </a:pPr>
            <a:r>
              <a:rPr lang="en-US" sz="1000" b="0">
                <a:solidFill>
                  <a:srgbClr val="5D6E7C"/>
                </a:solidFill>
                <a:latin typeface="Aptos"/>
              </a:rPr>
              <a:t>4 / 6</a:t>
            </a:r>
          </a:p>
        </p:txBody>
      </p:sp>
      <p:sp>
        <p:nvSpPr>
          <p:cNvPr id="7" name="Panel 7"/>
          <p:cNvSpPr/>
          <p:nvPr/>
        </p:nvSpPr>
        <p:spPr>
          <a:xfrm>
            <a:off x="594360" y="1828800"/>
            <a:ext cx="5349240" cy="1828800"/>
          </a:xfrm>
          <a:prstGeom prst="roundRect">
            <a:avLst/>
          </a:prstGeom>
          <a:solidFill>
            <a:srgbClr val="EAF4FC"/>
          </a:solidFill>
          <a:ln>
            <a:noFill/>
          </a:ln>
        </p:spPr>
      </p:sp>
      <p:sp>
        <p:nvSpPr>
          <p:cNvPr id="8" name="Text 8"/>
          <p:cNvSpPr txBox="1"/>
          <p:nvPr/>
        </p:nvSpPr>
        <p:spPr>
          <a:xfrm>
            <a:off x="795528" y="2011680"/>
            <a:ext cx="4946904" cy="457200"/>
          </a:xfrm>
          <a:prstGeom prst="rect">
            <a:avLst/>
          </a:prstGeom>
          <a:noFill/>
          <a:ln>
            <a:noFill/>
          </a:ln>
        </p:spPr>
        <p:txBody>
          <a:bodyPr wrap="square" lIns="0" rIns="0" tIns="0" bIns="0"/>
          <a:lstStyle/>
          <a:p>
            <a:pPr>
              <a:spcAft>
                <a:spcPts val="1000"/>
              </a:spcAft>
            </a:pPr>
            <a:r>
              <a:rPr lang="en-US" sz="2000" b="1">
                <a:solidFill>
                  <a:srgbClr val="103D66"/>
                </a:solidFill>
                <a:latin typeface="Aptos"/>
              </a:rPr>
              <a:t>Validate before continuing</a:t>
            </a:r>
          </a:p>
        </p:txBody>
      </p:sp>
      <p:sp>
        <p:nvSpPr>
          <p:cNvPr id="9" name="Text 9"/>
          <p:cNvSpPr txBox="1"/>
          <p:nvPr/>
        </p:nvSpPr>
        <p:spPr>
          <a:xfrm>
            <a:off x="795528" y="2560320"/>
            <a:ext cx="4946904" cy="1005840"/>
          </a:xfrm>
          <a:prstGeom prst="rect">
            <a:avLst/>
          </a:prstGeom>
          <a:noFill/>
          <a:ln>
            <a:noFill/>
          </a:ln>
        </p:spPr>
        <p:txBody>
          <a:bodyPr wrap="square" lIns="0" rIns="0" tIns="0" bIns="0"/>
          <a:lstStyle/>
          <a:p>
            <a:pPr>
              <a:spcAft>
                <a:spcPts val="1000"/>
              </a:spcAft>
            </a:pPr>
            <a:r>
              <a:rPr lang="en-US" sz="1700" b="0">
                <a:solidFill>
                  <a:srgbClr val="203345"/>
                </a:solidFill>
                <a:latin typeface="Aptos"/>
              </a:rPr>
              <a:t>Required fields, matching passwords, bank-number length and valid numeric inputs.</a:t>
            </a:r>
          </a:p>
        </p:txBody>
      </p:sp>
      <p:sp>
        <p:nvSpPr>
          <p:cNvPr id="10" name="Panel 10"/>
          <p:cNvSpPr/>
          <p:nvPr/>
        </p:nvSpPr>
        <p:spPr>
          <a:xfrm>
            <a:off x="6217920" y="1828800"/>
            <a:ext cx="5349240" cy="1828800"/>
          </a:xfrm>
          <a:prstGeom prst="roundRect">
            <a:avLst/>
          </a:prstGeom>
          <a:solidFill>
            <a:srgbClr val="EAF4FC"/>
          </a:solidFill>
          <a:ln>
            <a:noFill/>
          </a:ln>
        </p:spPr>
      </p:sp>
      <p:sp>
        <p:nvSpPr>
          <p:cNvPr id="11" name="Text 11"/>
          <p:cNvSpPr txBox="1"/>
          <p:nvPr/>
        </p:nvSpPr>
        <p:spPr>
          <a:xfrm>
            <a:off x="6419088" y="2011680"/>
            <a:ext cx="4946904" cy="457200"/>
          </a:xfrm>
          <a:prstGeom prst="rect">
            <a:avLst/>
          </a:prstGeom>
          <a:noFill/>
          <a:ln>
            <a:noFill/>
          </a:ln>
        </p:spPr>
        <p:txBody>
          <a:bodyPr wrap="square" lIns="0" rIns="0" tIns="0" bIns="0"/>
          <a:lstStyle/>
          <a:p>
            <a:pPr>
              <a:spcAft>
                <a:spcPts val="1000"/>
              </a:spcAft>
            </a:pPr>
            <a:r>
              <a:rPr lang="en-US" sz="2000" b="1">
                <a:solidFill>
                  <a:srgbClr val="103D66"/>
                </a:solidFill>
                <a:latin typeface="Aptos"/>
              </a:rPr>
              <a:t>Recover from failures</a:t>
            </a:r>
          </a:p>
        </p:txBody>
      </p:sp>
      <p:sp>
        <p:nvSpPr>
          <p:cNvPr id="12" name="Text 12"/>
          <p:cNvSpPr txBox="1"/>
          <p:nvPr/>
        </p:nvSpPr>
        <p:spPr>
          <a:xfrm>
            <a:off x="6419088" y="2560320"/>
            <a:ext cx="4946904" cy="1005840"/>
          </a:xfrm>
          <a:prstGeom prst="rect">
            <a:avLst/>
          </a:prstGeom>
          <a:noFill/>
          <a:ln>
            <a:noFill/>
          </a:ln>
        </p:spPr>
        <p:txBody>
          <a:bodyPr wrap="square" lIns="0" rIns="0" tIns="0" bIns="0"/>
          <a:lstStyle/>
          <a:p>
            <a:pPr>
              <a:spcAft>
                <a:spcPts val="1000"/>
              </a:spcAft>
            </a:pPr>
            <a:r>
              <a:rPr lang="en-US" sz="1700" b="0">
                <a:solidFill>
                  <a:srgbClr val="203345"/>
                </a:solidFill>
                <a:latin typeface="Aptos"/>
              </a:rPr>
              <a:t>Storage retry, export errors, save cancellation and loading-state cleanup.</a:t>
            </a:r>
          </a:p>
        </p:txBody>
      </p:sp>
      <p:sp>
        <p:nvSpPr>
          <p:cNvPr id="13" name="Panel 13"/>
          <p:cNvSpPr/>
          <p:nvPr/>
        </p:nvSpPr>
        <p:spPr>
          <a:xfrm>
            <a:off x="594360" y="3931920"/>
            <a:ext cx="5349240" cy="1828800"/>
          </a:xfrm>
          <a:prstGeom prst="roundRect">
            <a:avLst/>
          </a:prstGeom>
          <a:solidFill>
            <a:srgbClr val="EAF4FC"/>
          </a:solidFill>
          <a:ln>
            <a:noFill/>
          </a:ln>
        </p:spPr>
      </p:sp>
      <p:sp>
        <p:nvSpPr>
          <p:cNvPr id="14" name="Text 14"/>
          <p:cNvSpPr txBox="1"/>
          <p:nvPr/>
        </p:nvSpPr>
        <p:spPr>
          <a:xfrm>
            <a:off x="795528" y="4114800"/>
            <a:ext cx="4946904" cy="457200"/>
          </a:xfrm>
          <a:prstGeom prst="rect">
            <a:avLst/>
          </a:prstGeom>
          <a:noFill/>
          <a:ln>
            <a:noFill/>
          </a:ln>
        </p:spPr>
        <p:txBody>
          <a:bodyPr wrap="square" lIns="0" rIns="0" tIns="0" bIns="0"/>
          <a:lstStyle/>
          <a:p>
            <a:pPr>
              <a:spcAft>
                <a:spcPts val="1000"/>
              </a:spcAft>
            </a:pPr>
            <a:r>
              <a:rPr lang="en-US" sz="2000" b="1">
                <a:solidFill>
                  <a:srgbClr val="103D66"/>
                </a:solidFill>
                <a:latin typeface="Aptos"/>
              </a:rPr>
              <a:t>Fit smaller phones</a:t>
            </a:r>
          </a:p>
        </p:txBody>
      </p:sp>
      <p:sp>
        <p:nvSpPr>
          <p:cNvPr id="15" name="Text 15"/>
          <p:cNvSpPr txBox="1"/>
          <p:nvPr/>
        </p:nvSpPr>
        <p:spPr>
          <a:xfrm>
            <a:off x="795528" y="4663440"/>
            <a:ext cx="4946904" cy="1005840"/>
          </a:xfrm>
          <a:prstGeom prst="rect">
            <a:avLst/>
          </a:prstGeom>
          <a:noFill/>
          <a:ln>
            <a:noFill/>
          </a:ln>
        </p:spPr>
        <p:txBody>
          <a:bodyPr wrap="square" lIns="0" rIns="0" tIns="0" bIns="0"/>
          <a:lstStyle/>
          <a:p>
            <a:pPr>
              <a:spcAft>
                <a:spcPts val="1000"/>
              </a:spcAft>
            </a:pPr>
            <a:r>
              <a:rPr lang="en-US" sz="1700" b="0">
                <a:solidFill>
                  <a:srgbClr val="203345"/>
                </a:solidFill>
                <a:latin typeface="Aptos"/>
              </a:rPr>
              <a:t>Scrollable forms and preview layout checks at 320 and 390 pixels, including enlarged text.</a:t>
            </a:r>
          </a:p>
        </p:txBody>
      </p:sp>
      <p:sp>
        <p:nvSpPr>
          <p:cNvPr id="16" name="Panel 16"/>
          <p:cNvSpPr/>
          <p:nvPr/>
        </p:nvSpPr>
        <p:spPr>
          <a:xfrm>
            <a:off x="6217920" y="3931920"/>
            <a:ext cx="5349240" cy="1828800"/>
          </a:xfrm>
          <a:prstGeom prst="roundRect">
            <a:avLst/>
          </a:prstGeom>
          <a:solidFill>
            <a:srgbClr val="EAF4FC"/>
          </a:solidFill>
          <a:ln>
            <a:noFill/>
          </a:ln>
        </p:spPr>
      </p:sp>
      <p:sp>
        <p:nvSpPr>
          <p:cNvPr id="17" name="Text 17"/>
          <p:cNvSpPr txBox="1"/>
          <p:nvPr/>
        </p:nvSpPr>
        <p:spPr>
          <a:xfrm>
            <a:off x="6419088" y="4114800"/>
            <a:ext cx="4946904" cy="457200"/>
          </a:xfrm>
          <a:prstGeom prst="rect">
            <a:avLst/>
          </a:prstGeom>
          <a:noFill/>
          <a:ln>
            <a:noFill/>
          </a:ln>
        </p:spPr>
        <p:txBody>
          <a:bodyPr wrap="square" lIns="0" rIns="0" tIns="0" bIns="0"/>
          <a:lstStyle/>
          <a:p>
            <a:pPr>
              <a:spcAft>
                <a:spcPts val="1000"/>
              </a:spcAft>
            </a:pPr>
            <a:r>
              <a:rPr lang="en-US" sz="2000" b="1">
                <a:solidFill>
                  <a:srgbClr val="103D66"/>
                </a:solidFill>
                <a:latin typeface="Aptos"/>
              </a:rPr>
              <a:t>Keep resource use controlled</a:t>
            </a:r>
          </a:p>
        </p:txBody>
      </p:sp>
      <p:sp>
        <p:nvSpPr>
          <p:cNvPr id="18" name="Text 18"/>
          <p:cNvSpPr txBox="1"/>
          <p:nvPr/>
        </p:nvSpPr>
        <p:spPr>
          <a:xfrm>
            <a:off x="6419088" y="4663440"/>
            <a:ext cx="4946904" cy="1005840"/>
          </a:xfrm>
          <a:prstGeom prst="rect">
            <a:avLst/>
          </a:prstGeom>
          <a:noFill/>
          <a:ln>
            <a:noFill/>
          </a:ln>
        </p:spPr>
        <p:txBody>
          <a:bodyPr wrap="square" lIns="0" rIns="0" tIns="0" bIns="0"/>
          <a:lstStyle/>
          <a:p>
            <a:pPr>
              <a:spcAft>
                <a:spcPts val="1000"/>
              </a:spcAft>
            </a:pPr>
            <a:r>
              <a:rPr lang="en-US" sz="1700" b="0">
                <a:solidFill>
                  <a:srgbClr val="203345"/>
                </a:solidFill>
                <a:latin typeface="Aptos"/>
              </a:rPr>
              <a:t>Dispose controllers; resize uploaded logos; select relevant Riverpod state to limit rebuilds.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nel 2"/>
          <p:cNvSpPr/>
          <p:nvPr/>
        </p:nvSpPr>
        <p:spPr>
          <a:xfrm>
            <a:off x="0" y="0"/>
            <a:ext cx="12191695" cy="109728"/>
          </a:xfrm>
          <a:prstGeom prst="rect">
            <a:avLst/>
          </a:prstGeom>
          <a:solidFill>
            <a:srgbClr val="50A7FF"/>
          </a:solidFill>
          <a:ln>
            <a:noFill/>
          </a:ln>
        </p:spPr>
      </p:sp>
      <p:sp>
        <p:nvSpPr>
          <p:cNvPr id="3" name="Text 3"/>
          <p:cNvSpPr txBox="1"/>
          <p:nvPr/>
        </p:nvSpPr>
        <p:spPr>
          <a:xfrm>
            <a:off x="548640" y="347472"/>
            <a:ext cx="10972800" cy="274320"/>
          </a:xfrm>
          <a:prstGeom prst="rect">
            <a:avLst/>
          </a:prstGeom>
          <a:noFill/>
          <a:ln>
            <a:noFill/>
          </a:ln>
        </p:spPr>
        <p:txBody>
          <a:bodyPr wrap="square" lIns="0" rIns="0" tIns="0" bIns="0"/>
          <a:lstStyle/>
          <a:p>
            <a:pPr>
              <a:spcAft>
                <a:spcPts val="1000"/>
              </a:spcAft>
            </a:pPr>
            <a:r>
              <a:rPr lang="en-US" sz="1200" b="1">
                <a:solidFill>
                  <a:srgbClr val="50A7FF"/>
                </a:solidFill>
                <a:latin typeface="Aptos"/>
              </a:rPr>
              <a:t>TESTING &amp; DOCUMENTATION</a:t>
            </a:r>
          </a:p>
        </p:txBody>
      </p:sp>
      <p:sp>
        <p:nvSpPr>
          <p:cNvPr id="4" name="Text 4"/>
          <p:cNvSpPr txBox="1"/>
          <p:nvPr/>
        </p:nvSpPr>
        <p:spPr>
          <a:xfrm>
            <a:off x="548640" y="868680"/>
            <a:ext cx="10972800" cy="914400"/>
          </a:xfrm>
          <a:prstGeom prst="rect">
            <a:avLst/>
          </a:prstGeom>
          <a:noFill/>
          <a:ln>
            <a:noFill/>
          </a:ln>
        </p:spPr>
        <p:txBody>
          <a:bodyPr wrap="square" lIns="0" rIns="0" tIns="0" bIns="0"/>
          <a:lstStyle/>
          <a:p>
            <a:pPr>
              <a:spcAft>
                <a:spcPts val="1000"/>
              </a:spcAft>
            </a:pPr>
            <a:r>
              <a:rPr lang="en-US" sz="3000" b="1">
                <a:solidFill>
                  <a:srgbClr val="103D66"/>
                </a:solidFill>
                <a:latin typeface="Aptos"/>
              </a:rPr>
              <a:t>Evidence behind the implementation</a:t>
            </a:r>
          </a:p>
        </p:txBody>
      </p:sp>
      <p:sp>
        <p:nvSpPr>
          <p:cNvPr id="5" name="Text 5"/>
          <p:cNvSpPr txBox="1"/>
          <p:nvPr/>
        </p:nvSpPr>
        <p:spPr>
          <a:xfrm>
            <a:off x="548640" y="6510528"/>
            <a:ext cx="10058400" cy="182880"/>
          </a:xfrm>
          <a:prstGeom prst="rect">
            <a:avLst/>
          </a:prstGeom>
          <a:noFill/>
          <a:ln>
            <a:noFill/>
          </a:ln>
        </p:spPr>
        <p:txBody>
          <a:bodyPr wrap="square" lIns="0" rIns="0" tIns="0" bIns="0"/>
          <a:lstStyle/>
          <a:p>
            <a:pPr>
              <a:spcAft>
                <a:spcPts val="1000"/>
              </a:spcAft>
            </a:pPr>
            <a:r>
              <a:rPr lang="en-US" sz="1000" b="0">
                <a:solidFill>
                  <a:srgbClr val="5D6E7C"/>
                </a:solidFill>
                <a:latin typeface="Aptos"/>
              </a:rPr>
              <a:t>LANCEBOX  /  Senior Analyst, Mobile Development case study</a:t>
            </a:r>
          </a:p>
        </p:txBody>
      </p:sp>
      <p:sp>
        <p:nvSpPr>
          <p:cNvPr id="6" name="Text 6"/>
          <p:cNvSpPr txBox="1"/>
          <p:nvPr/>
        </p:nvSpPr>
        <p:spPr>
          <a:xfrm>
            <a:off x="10972800" y="6492240"/>
            <a:ext cx="640080" cy="228600"/>
          </a:xfrm>
          <a:prstGeom prst="rect">
            <a:avLst/>
          </a:prstGeom>
          <a:noFill/>
          <a:ln>
            <a:noFill/>
          </a:ln>
        </p:spPr>
        <p:txBody>
          <a:bodyPr wrap="square" lIns="0" rIns="0" tIns="0" bIns="0"/>
          <a:lstStyle/>
          <a:p>
            <a:pPr>
              <a:spcAft>
                <a:spcPts val="1000"/>
              </a:spcAft>
            </a:pPr>
            <a:r>
              <a:rPr lang="en-US" sz="1000" b="0">
                <a:solidFill>
                  <a:srgbClr val="5D6E7C"/>
                </a:solidFill>
                <a:latin typeface="Aptos"/>
              </a:rPr>
              <a:t>5 / 6</a:t>
            </a:r>
          </a:p>
        </p:txBody>
      </p:sp>
      <p:sp>
        <p:nvSpPr>
          <p:cNvPr id="7" name="Panel 7"/>
          <p:cNvSpPr/>
          <p:nvPr/>
        </p:nvSpPr>
        <p:spPr>
          <a:xfrm>
            <a:off x="594360" y="1828800"/>
            <a:ext cx="3337560" cy="1645920"/>
          </a:xfrm>
          <a:prstGeom prst="roundRect">
            <a:avLst/>
          </a:prstGeom>
          <a:solidFill>
            <a:srgbClr val="103D66"/>
          </a:solidFill>
          <a:ln>
            <a:noFill/>
          </a:ln>
        </p:spPr>
      </p:sp>
      <p:sp>
        <p:nvSpPr>
          <p:cNvPr id="8" name="Text 8"/>
          <p:cNvSpPr txBox="1"/>
          <p:nvPr/>
        </p:nvSpPr>
        <p:spPr>
          <a:xfrm>
            <a:off x="822960" y="1993392"/>
            <a:ext cx="2880360" cy="777240"/>
          </a:xfrm>
          <a:prstGeom prst="rect">
            <a:avLst/>
          </a:prstGeom>
          <a:noFill/>
          <a:ln>
            <a:noFill/>
          </a:ln>
        </p:spPr>
        <p:txBody>
          <a:bodyPr wrap="square" lIns="0" rIns="0" tIns="0" bIns="0"/>
          <a:lstStyle/>
          <a:p>
            <a:pPr>
              <a:spcAft>
                <a:spcPts val="1000"/>
              </a:spcAft>
            </a:pPr>
            <a:r>
              <a:rPr lang="en-US" sz="4200" b="1">
                <a:solidFill>
                  <a:srgbClr val="50A7FF"/>
                </a:solidFill>
                <a:latin typeface="Aptos"/>
              </a:rPr>
              <a:t>21</a:t>
            </a:r>
          </a:p>
        </p:txBody>
      </p:sp>
      <p:sp>
        <p:nvSpPr>
          <p:cNvPr id="9" name="Text 9"/>
          <p:cNvSpPr txBox="1"/>
          <p:nvPr/>
        </p:nvSpPr>
        <p:spPr>
          <a:xfrm>
            <a:off x="822960" y="2852928"/>
            <a:ext cx="2880360" cy="365760"/>
          </a:xfrm>
          <a:prstGeom prst="rect">
            <a:avLst/>
          </a:prstGeom>
          <a:noFill/>
          <a:ln>
            <a:noFill/>
          </a:ln>
        </p:spPr>
        <p:txBody>
          <a:bodyPr wrap="square" lIns="0" rIns="0" tIns="0" bIns="0"/>
          <a:lstStyle/>
          <a:p>
            <a:pPr>
              <a:spcAft>
                <a:spcPts val="1000"/>
              </a:spcAft>
            </a:pPr>
            <a:r>
              <a:rPr lang="en-US" sz="1600" b="0">
                <a:solidFill>
                  <a:srgbClr val="FFFFFF"/>
                </a:solidFill>
                <a:latin typeface="Aptos"/>
              </a:rPr>
              <a:t>automated tests passed</a:t>
            </a:r>
          </a:p>
        </p:txBody>
      </p:sp>
      <p:sp>
        <p:nvSpPr>
          <p:cNvPr id="10" name="Panel 10"/>
          <p:cNvSpPr/>
          <p:nvPr/>
        </p:nvSpPr>
        <p:spPr>
          <a:xfrm>
            <a:off x="4434840" y="1828800"/>
            <a:ext cx="3337560" cy="1645920"/>
          </a:xfrm>
          <a:prstGeom prst="roundRect">
            <a:avLst/>
          </a:prstGeom>
          <a:solidFill>
            <a:srgbClr val="103D66"/>
          </a:solidFill>
          <a:ln>
            <a:noFill/>
          </a:ln>
        </p:spPr>
      </p:sp>
      <p:sp>
        <p:nvSpPr>
          <p:cNvPr id="11" name="Text 11"/>
          <p:cNvSpPr txBox="1"/>
          <p:nvPr/>
        </p:nvSpPr>
        <p:spPr>
          <a:xfrm>
            <a:off x="4663440" y="1993392"/>
            <a:ext cx="2880360" cy="777240"/>
          </a:xfrm>
          <a:prstGeom prst="rect">
            <a:avLst/>
          </a:prstGeom>
          <a:noFill/>
          <a:ln>
            <a:noFill/>
          </a:ln>
        </p:spPr>
        <p:txBody>
          <a:bodyPr wrap="square" lIns="0" rIns="0" tIns="0" bIns="0"/>
          <a:lstStyle/>
          <a:p>
            <a:pPr>
              <a:spcAft>
                <a:spcPts val="1000"/>
              </a:spcAft>
            </a:pPr>
            <a:r>
              <a:rPr lang="en-US" sz="4200" b="1">
                <a:solidFill>
                  <a:srgbClr val="50A7FF"/>
                </a:solidFill>
                <a:latin typeface="Aptos"/>
              </a:rPr>
              <a:t>4</a:t>
            </a:r>
          </a:p>
        </p:txBody>
      </p:sp>
      <p:sp>
        <p:nvSpPr>
          <p:cNvPr id="12" name="Text 12"/>
          <p:cNvSpPr txBox="1"/>
          <p:nvPr/>
        </p:nvSpPr>
        <p:spPr>
          <a:xfrm>
            <a:off x="4663440" y="2852928"/>
            <a:ext cx="2880360" cy="365760"/>
          </a:xfrm>
          <a:prstGeom prst="rect">
            <a:avLst/>
          </a:prstGeom>
          <a:noFill/>
          <a:ln>
            <a:noFill/>
          </a:ln>
        </p:spPr>
        <p:txBody>
          <a:bodyPr wrap="square" lIns="0" rIns="0" tIns="0" bIns="0"/>
          <a:lstStyle/>
          <a:p>
            <a:pPr>
              <a:spcAft>
                <a:spcPts val="1000"/>
              </a:spcAft>
            </a:pPr>
            <a:r>
              <a:rPr lang="en-US" sz="1600" b="0">
                <a:solidFill>
                  <a:srgbClr val="FFFFFF"/>
                </a:solidFill>
                <a:latin typeface="Aptos"/>
              </a:rPr>
              <a:t>visual baselines matched</a:t>
            </a:r>
          </a:p>
        </p:txBody>
      </p:sp>
      <p:sp>
        <p:nvSpPr>
          <p:cNvPr id="13" name="Panel 13"/>
          <p:cNvSpPr/>
          <p:nvPr/>
        </p:nvSpPr>
        <p:spPr>
          <a:xfrm>
            <a:off x="8275320" y="1828800"/>
            <a:ext cx="3337560" cy="1645920"/>
          </a:xfrm>
          <a:prstGeom prst="roundRect">
            <a:avLst/>
          </a:prstGeom>
          <a:solidFill>
            <a:srgbClr val="103D66"/>
          </a:solidFill>
          <a:ln>
            <a:noFill/>
          </a:ln>
        </p:spPr>
      </p:sp>
      <p:sp>
        <p:nvSpPr>
          <p:cNvPr id="14" name="Text 14"/>
          <p:cNvSpPr txBox="1"/>
          <p:nvPr/>
        </p:nvSpPr>
        <p:spPr>
          <a:xfrm>
            <a:off x="8503920" y="1993392"/>
            <a:ext cx="2880360" cy="777240"/>
          </a:xfrm>
          <a:prstGeom prst="rect">
            <a:avLst/>
          </a:prstGeom>
          <a:noFill/>
          <a:ln>
            <a:noFill/>
          </a:ln>
        </p:spPr>
        <p:txBody>
          <a:bodyPr wrap="square" lIns="0" rIns="0" tIns="0" bIns="0"/>
          <a:lstStyle/>
          <a:p>
            <a:pPr>
              <a:spcAft>
                <a:spcPts val="1000"/>
              </a:spcAft>
            </a:pPr>
            <a:r>
              <a:rPr lang="en-US" sz="4200" b="1">
                <a:solidFill>
                  <a:srgbClr val="50A7FF"/>
                </a:solidFill>
                <a:latin typeface="Aptos"/>
              </a:rPr>
              <a:t>0</a:t>
            </a:r>
          </a:p>
        </p:txBody>
      </p:sp>
      <p:sp>
        <p:nvSpPr>
          <p:cNvPr id="15" name="Text 15"/>
          <p:cNvSpPr txBox="1"/>
          <p:nvPr/>
        </p:nvSpPr>
        <p:spPr>
          <a:xfrm>
            <a:off x="8503920" y="2852928"/>
            <a:ext cx="2880360" cy="365760"/>
          </a:xfrm>
          <a:prstGeom prst="rect">
            <a:avLst/>
          </a:prstGeom>
          <a:noFill/>
          <a:ln>
            <a:noFill/>
          </a:ln>
        </p:spPr>
        <p:txBody>
          <a:bodyPr wrap="square" lIns="0" rIns="0" tIns="0" bIns="0"/>
          <a:lstStyle/>
          <a:p>
            <a:pPr>
              <a:spcAft>
                <a:spcPts val="1000"/>
              </a:spcAft>
            </a:pPr>
            <a:r>
              <a:rPr lang="en-US" sz="1600" b="0">
                <a:solidFill>
                  <a:srgbClr val="FFFFFF"/>
                </a:solidFill>
                <a:latin typeface="Aptos"/>
              </a:rPr>
              <a:t>static-analysis issues</a:t>
            </a:r>
          </a:p>
        </p:txBody>
      </p:sp>
      <p:sp>
        <p:nvSpPr>
          <p:cNvPr id="16" name="Text 16"/>
          <p:cNvSpPr txBox="1"/>
          <p:nvPr/>
        </p:nvSpPr>
        <p:spPr>
          <a:xfrm>
            <a:off x="594360" y="3840480"/>
            <a:ext cx="5486400" cy="1737360"/>
          </a:xfrm>
          <a:prstGeom prst="rect">
            <a:avLst/>
          </a:prstGeom>
          <a:noFill/>
          <a:ln>
            <a:noFill/>
          </a:ln>
        </p:spPr>
        <p:txBody>
          <a:bodyPr wrap="square" lIns="0" rIns="0" tIns="0" bIns="0"/>
          <a:lstStyle/>
          <a:p>
            <a:pPr>
              <a:spcAft>
                <a:spcPts val="1000"/>
              </a:spcAft>
            </a:pPr>
            <a:r>
              <a:rPr lang="en-US" sz="2100" b="0">
                <a:solidFill>
                  <a:srgbClr val="203345"/>
                </a:solidFill>
                <a:latin typeface="Aptos"/>
              </a:rPr>
              <a:t>Checks cover</a:t>
            </a:r>
          </a:p>
          <a:p>
            <a:pPr>
              <a:spcAft>
                <a:spcPts val="1000"/>
              </a:spcAft>
            </a:pPr>
            <a:r>
              <a:rPr lang="en-US" sz="2100" b="0">
                <a:solidFill>
                  <a:srgbClr val="203345"/>
                </a:solidFill>
                <a:latin typeface="Aptos"/>
              </a:rPr>
              <a:t>Calculations, validation, persistence, PDF output, onboarding and preview/edit flow.</a:t>
            </a:r>
          </a:p>
        </p:txBody>
      </p:sp>
      <p:sp>
        <p:nvSpPr>
          <p:cNvPr id="17" name="Text 17"/>
          <p:cNvSpPr txBox="1"/>
          <p:nvPr/>
        </p:nvSpPr>
        <p:spPr>
          <a:xfrm>
            <a:off x="6537960" y="3840480"/>
            <a:ext cx="5029200" cy="1737360"/>
          </a:xfrm>
          <a:prstGeom prst="rect">
            <a:avLst/>
          </a:prstGeom>
          <a:noFill/>
          <a:ln>
            <a:noFill/>
          </a:ln>
        </p:spPr>
        <p:txBody>
          <a:bodyPr wrap="square" lIns="0" rIns="0" tIns="0" bIns="0"/>
          <a:lstStyle/>
          <a:p>
            <a:pPr>
              <a:spcAft>
                <a:spcPts val="1000"/>
              </a:spcAft>
            </a:pPr>
            <a:r>
              <a:rPr lang="en-US" sz="2100" b="0">
                <a:solidFill>
                  <a:srgbClr val="203345"/>
                </a:solidFill>
                <a:latin typeface="Aptos"/>
              </a:rPr>
              <a:t>Handover includes</a:t>
            </a:r>
          </a:p>
          <a:p>
            <a:pPr>
              <a:spcAft>
                <a:spcPts val="1000"/>
              </a:spcAft>
            </a:pPr>
            <a:r>
              <a:rPr lang="en-US" sz="2100" b="0">
                <a:solidFill>
                  <a:srgbClr val="203345"/>
                </a:solidFill>
                <a:latin typeface="Aptos"/>
              </a:rPr>
              <a:t>README setup instructions and a plain-language code guide for new contributors.</a:t>
            </a:r>
          </a:p>
        </p:txBody>
      </p:sp>
      <p:sp>
        <p:nvSpPr>
          <p:cNvPr id="18" name="Text 18"/>
          <p:cNvSpPr txBox="1"/>
          <p:nvPr/>
        </p:nvSpPr>
        <p:spPr>
          <a:xfrm>
            <a:off x="594360" y="5897880"/>
            <a:ext cx="10789920" cy="320040"/>
          </a:xfrm>
          <a:prstGeom prst="rect">
            <a:avLst/>
          </a:prstGeom>
          <a:noFill/>
          <a:ln>
            <a:noFill/>
          </a:ln>
        </p:spPr>
        <p:txBody>
          <a:bodyPr wrap="square" lIns="0" rIns="0" tIns="0" bIns="0"/>
          <a:lstStyle/>
          <a:p>
            <a:pPr>
              <a:spcAft>
                <a:spcPts val="1000"/>
              </a:spcAft>
            </a:pPr>
            <a:r>
              <a:rPr lang="en-US" sz="1500" b="0">
                <a:solidFill>
                  <a:srgbClr val="5D6E7C"/>
                </a:solidFill>
                <a:latin typeface="Aptos"/>
              </a:rPr>
              <a:t>Latest refactor verification • native file picking/sharing still requires device testing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nel 2"/>
          <p:cNvSpPr/>
          <p:nvPr/>
        </p:nvSpPr>
        <p:spPr>
          <a:xfrm>
            <a:off x="0" y="0"/>
            <a:ext cx="12191695" cy="109728"/>
          </a:xfrm>
          <a:prstGeom prst="rect">
            <a:avLst/>
          </a:prstGeom>
          <a:solidFill>
            <a:srgbClr val="50A7FF"/>
          </a:solidFill>
          <a:ln>
            <a:noFill/>
          </a:ln>
        </p:spPr>
      </p:sp>
      <p:sp>
        <p:nvSpPr>
          <p:cNvPr id="3" name="Text 3"/>
          <p:cNvSpPr txBox="1"/>
          <p:nvPr/>
        </p:nvSpPr>
        <p:spPr>
          <a:xfrm>
            <a:off x="548640" y="347472"/>
            <a:ext cx="10972800" cy="274320"/>
          </a:xfrm>
          <a:prstGeom prst="rect">
            <a:avLst/>
          </a:prstGeom>
          <a:noFill/>
          <a:ln>
            <a:noFill/>
          </a:ln>
        </p:spPr>
        <p:txBody>
          <a:bodyPr wrap="square" lIns="0" rIns="0" tIns="0" bIns="0"/>
          <a:lstStyle/>
          <a:p>
            <a:pPr>
              <a:spcAft>
                <a:spcPts val="1000"/>
              </a:spcAft>
            </a:pPr>
            <a:r>
              <a:rPr lang="en-US" sz="1200" b="1">
                <a:solidFill>
                  <a:srgbClr val="50A7FF"/>
                </a:solidFill>
                <a:latin typeface="Aptos"/>
              </a:rPr>
              <a:t>PANEL WALKTHROUGH &amp; NEXT STEPS</a:t>
            </a:r>
          </a:p>
        </p:txBody>
      </p:sp>
      <p:sp>
        <p:nvSpPr>
          <p:cNvPr id="4" name="Text 4"/>
          <p:cNvSpPr txBox="1"/>
          <p:nvPr/>
        </p:nvSpPr>
        <p:spPr>
          <a:xfrm>
            <a:off x="548640" y="868680"/>
            <a:ext cx="10972800" cy="914400"/>
          </a:xfrm>
          <a:prstGeom prst="rect">
            <a:avLst/>
          </a:prstGeom>
          <a:noFill/>
          <a:ln>
            <a:noFill/>
          </a:ln>
        </p:spPr>
        <p:txBody>
          <a:bodyPr wrap="square" lIns="0" rIns="0" tIns="0" bIns="0"/>
          <a:lstStyle/>
          <a:p>
            <a:pPr>
              <a:spcAft>
                <a:spcPts val="1000"/>
              </a:spcAft>
            </a:pPr>
            <a:r>
              <a:rPr lang="en-US" sz="3000" b="1">
                <a:solidFill>
                  <a:srgbClr val="103D66"/>
                </a:solidFill>
                <a:latin typeface="Aptos"/>
              </a:rPr>
              <a:t>Demonstrate the flow, then close the gaps</a:t>
            </a:r>
          </a:p>
        </p:txBody>
      </p:sp>
      <p:sp>
        <p:nvSpPr>
          <p:cNvPr id="5" name="Text 5"/>
          <p:cNvSpPr txBox="1"/>
          <p:nvPr/>
        </p:nvSpPr>
        <p:spPr>
          <a:xfrm>
            <a:off x="548640" y="6510528"/>
            <a:ext cx="10058400" cy="182880"/>
          </a:xfrm>
          <a:prstGeom prst="rect">
            <a:avLst/>
          </a:prstGeom>
          <a:noFill/>
          <a:ln>
            <a:noFill/>
          </a:ln>
        </p:spPr>
        <p:txBody>
          <a:bodyPr wrap="square" lIns="0" rIns="0" tIns="0" bIns="0"/>
          <a:lstStyle/>
          <a:p>
            <a:pPr>
              <a:spcAft>
                <a:spcPts val="1000"/>
              </a:spcAft>
            </a:pPr>
            <a:r>
              <a:rPr lang="en-US" sz="1000" b="0">
                <a:solidFill>
                  <a:srgbClr val="5D6E7C"/>
                </a:solidFill>
                <a:latin typeface="Aptos"/>
              </a:rPr>
              <a:t>LANCEBOX  /  Senior Analyst, Mobile Development case study</a:t>
            </a:r>
          </a:p>
        </p:txBody>
      </p:sp>
      <p:sp>
        <p:nvSpPr>
          <p:cNvPr id="6" name="Text 6"/>
          <p:cNvSpPr txBox="1"/>
          <p:nvPr/>
        </p:nvSpPr>
        <p:spPr>
          <a:xfrm>
            <a:off x="10972800" y="6492240"/>
            <a:ext cx="640080" cy="228600"/>
          </a:xfrm>
          <a:prstGeom prst="rect">
            <a:avLst/>
          </a:prstGeom>
          <a:noFill/>
          <a:ln>
            <a:noFill/>
          </a:ln>
        </p:spPr>
        <p:txBody>
          <a:bodyPr wrap="square" lIns="0" rIns="0" tIns="0" bIns="0"/>
          <a:lstStyle/>
          <a:p>
            <a:pPr>
              <a:spcAft>
                <a:spcPts val="1000"/>
              </a:spcAft>
            </a:pPr>
            <a:r>
              <a:rPr lang="en-US" sz="1000" b="0">
                <a:solidFill>
                  <a:srgbClr val="5D6E7C"/>
                </a:solidFill>
                <a:latin typeface="Aptos"/>
              </a:rPr>
              <a:t>6 / 6</a:t>
            </a:r>
          </a:p>
        </p:txBody>
      </p:sp>
      <p:sp>
        <p:nvSpPr>
          <p:cNvPr id="7" name="Panel 7"/>
          <p:cNvSpPr/>
          <p:nvPr/>
        </p:nvSpPr>
        <p:spPr>
          <a:xfrm>
            <a:off x="594360" y="1783080"/>
            <a:ext cx="5486400" cy="4297680"/>
          </a:xfrm>
          <a:prstGeom prst="roundRect">
            <a:avLst/>
          </a:prstGeom>
          <a:solidFill>
            <a:srgbClr val="EAF4FC"/>
          </a:solidFill>
          <a:ln>
            <a:noFill/>
          </a:ln>
        </p:spPr>
      </p:sp>
      <p:sp>
        <p:nvSpPr>
          <p:cNvPr id="8" name="Text 8"/>
          <p:cNvSpPr txBox="1"/>
          <p:nvPr/>
        </p:nvSpPr>
        <p:spPr>
          <a:xfrm>
            <a:off x="822960" y="2011680"/>
            <a:ext cx="5029200" cy="457200"/>
          </a:xfrm>
          <a:prstGeom prst="rect">
            <a:avLst/>
          </a:prstGeom>
          <a:noFill/>
          <a:ln>
            <a:noFill/>
          </a:ln>
        </p:spPr>
        <p:txBody>
          <a:bodyPr wrap="square" lIns="0" rIns="0" tIns="0" bIns="0"/>
          <a:lstStyle/>
          <a:p>
            <a:pPr>
              <a:spcAft>
                <a:spcPts val="1000"/>
              </a:spcAft>
            </a:pPr>
            <a:r>
              <a:rPr lang="en-US" sz="1800" b="1">
                <a:solidFill>
                  <a:srgbClr val="103D66"/>
                </a:solidFill>
                <a:latin typeface="Aptos"/>
              </a:rPr>
              <a:t>LIVE WALKTHROUGH</a:t>
            </a:r>
          </a:p>
        </p:txBody>
      </p:sp>
      <p:sp>
        <p:nvSpPr>
          <p:cNvPr id="9" name="Text 9"/>
          <p:cNvSpPr txBox="1"/>
          <p:nvPr/>
        </p:nvSpPr>
        <p:spPr>
          <a:xfrm>
            <a:off x="822960" y="2743200"/>
            <a:ext cx="4892040" cy="3108960"/>
          </a:xfrm>
          <a:prstGeom prst="rect">
            <a:avLst/>
          </a:prstGeom>
          <a:noFill/>
          <a:ln>
            <a:noFill/>
          </a:ln>
        </p:spPr>
        <p:txBody>
          <a:bodyPr wrap="square" lIns="0" rIns="0" tIns="0" bIns="0"/>
          <a:lstStyle/>
          <a:p>
            <a:pPr>
              <a:spcAft>
                <a:spcPts val="1000"/>
              </a:spcAft>
            </a:pPr>
            <a:r>
              <a:rPr lang="en-US" sz="2000" b="0">
                <a:solidFill>
                  <a:srgbClr val="203345"/>
                </a:solidFill>
                <a:latin typeface="Aptos"/>
              </a:rPr>
              <a:t>1. Show validation and complete onboarding.</a:t>
            </a:r>
          </a:p>
          <a:p>
            <a:pPr>
              <a:spcAft>
                <a:spcPts val="1000"/>
              </a:spcAft>
            </a:pPr>
            <a:r>
              <a:rPr lang="en-US" sz="2000" b="0">
                <a:solidFill>
                  <a:srgbClr val="203345"/>
                </a:solidFill>
                <a:latin typeface="Aptos"/>
              </a:rPr>
              <a:t>2. Add invoice items; change VAT/shipping.</a:t>
            </a:r>
          </a:p>
          <a:p>
            <a:pPr>
              <a:spcAft>
                <a:spcPts val="1000"/>
              </a:spcAft>
            </a:pPr>
            <a:r>
              <a:rPr lang="en-US" sz="2000" b="0">
                <a:solidFill>
                  <a:srgbClr val="203345"/>
                </a:solidFill>
                <a:latin typeface="Aptos"/>
              </a:rPr>
              <a:t>3. Preview, edit and confirm retained values.</a:t>
            </a:r>
          </a:p>
          <a:p>
            <a:pPr>
              <a:spcAft>
                <a:spcPts val="1000"/>
              </a:spcAft>
            </a:pPr>
            <a:r>
              <a:rPr lang="en-US" sz="2000" b="0">
                <a:solidFill>
                  <a:srgbClr val="203345"/>
                </a:solidFill>
                <a:latin typeface="Aptos"/>
              </a:rPr>
              <a:t>4. Download a PDF or open device sharing.</a:t>
            </a:r>
          </a:p>
          <a:p>
            <a:pPr>
              <a:spcAft>
                <a:spcPts val="1000"/>
              </a:spcAft>
            </a:pPr>
            <a:r>
              <a:rPr lang="en-US" sz="2000" b="0">
                <a:solidFill>
                  <a:srgbClr val="203345"/>
                </a:solidFill>
                <a:latin typeface="Aptos"/>
              </a:rPr>
              <a:t>5. Show Riverpod, calculations and tests.</a:t>
            </a:r>
          </a:p>
        </p:txBody>
      </p:sp>
      <p:sp>
        <p:nvSpPr>
          <p:cNvPr id="10" name="Text 10"/>
          <p:cNvSpPr txBox="1"/>
          <p:nvPr/>
        </p:nvSpPr>
        <p:spPr>
          <a:xfrm>
            <a:off x="6446520" y="2011680"/>
            <a:ext cx="5074920" cy="457200"/>
          </a:xfrm>
          <a:prstGeom prst="rect">
            <a:avLst/>
          </a:prstGeom>
          <a:noFill/>
          <a:ln>
            <a:noFill/>
          </a:ln>
        </p:spPr>
        <p:txBody>
          <a:bodyPr wrap="square" lIns="0" rIns="0" tIns="0" bIns="0"/>
          <a:lstStyle/>
          <a:p>
            <a:pPr>
              <a:spcAft>
                <a:spcPts val="1000"/>
              </a:spcAft>
            </a:pPr>
            <a:r>
              <a:rPr lang="en-US" sz="1800" b="1">
                <a:solidFill>
                  <a:srgbClr val="103D66"/>
                </a:solidFill>
                <a:latin typeface="Aptos"/>
              </a:rPr>
              <a:t>CURRENT BOUNDARIES</a:t>
            </a:r>
          </a:p>
        </p:txBody>
      </p:sp>
      <p:sp>
        <p:nvSpPr>
          <p:cNvPr id="11" name="Text 11"/>
          <p:cNvSpPr txBox="1"/>
          <p:nvPr/>
        </p:nvSpPr>
        <p:spPr>
          <a:xfrm>
            <a:off x="6446520" y="2697480"/>
            <a:ext cx="4983480" cy="1417320"/>
          </a:xfrm>
          <a:prstGeom prst="rect">
            <a:avLst/>
          </a:prstGeom>
          <a:noFill/>
          <a:ln>
            <a:noFill/>
          </a:ln>
        </p:spPr>
        <p:txBody>
          <a:bodyPr wrap="square" lIns="0" rIns="0" tIns="0" bIns="0"/>
          <a:lstStyle/>
          <a:p>
            <a:pPr>
              <a:spcAft>
                <a:spcPts val="1000"/>
              </a:spcAft>
            </a:pPr>
            <a:r>
              <a:rPr lang="en-US" sz="1900" b="0">
                <a:solidFill>
                  <a:srgbClr val="203345"/>
                </a:solidFill>
                <a:latin typeface="Aptos"/>
              </a:rPr>
              <a:t>Local demo; no backend authentication.</a:t>
            </a:r>
          </a:p>
          <a:p>
            <a:pPr>
              <a:spcAft>
                <a:spcPts val="1000"/>
              </a:spcAft>
            </a:pPr>
            <a:r>
              <a:rPr lang="en-US" sz="1900" b="0">
                <a:solidFill>
                  <a:srgbClr val="203345"/>
                </a:solidFill>
                <a:latin typeface="Aptos"/>
              </a:rPr>
              <a:t>Email uses the device share menu.</a:t>
            </a:r>
          </a:p>
          <a:p>
            <a:pPr>
              <a:spcAft>
                <a:spcPts val="1000"/>
              </a:spcAft>
            </a:pPr>
            <a:r>
              <a:rPr lang="en-US" sz="1900" b="0">
                <a:solidFill>
                  <a:srgbClr val="203345"/>
                </a:solidFill>
                <a:latin typeface="Aptos"/>
              </a:rPr>
              <a:t>Save logic exists; no visible Save button.</a:t>
            </a:r>
          </a:p>
        </p:txBody>
      </p:sp>
      <p:sp>
        <p:nvSpPr>
          <p:cNvPr id="12" name="Text 12"/>
          <p:cNvSpPr txBox="1"/>
          <p:nvPr/>
        </p:nvSpPr>
        <p:spPr>
          <a:xfrm>
            <a:off x="6446520" y="4389120"/>
            <a:ext cx="4937760" cy="457200"/>
          </a:xfrm>
          <a:prstGeom prst="rect">
            <a:avLst/>
          </a:prstGeom>
          <a:noFill/>
          <a:ln>
            <a:noFill/>
          </a:ln>
        </p:spPr>
        <p:txBody>
          <a:bodyPr wrap="square" lIns="0" rIns="0" tIns="0" bIns="0"/>
          <a:lstStyle/>
          <a:p>
            <a:pPr>
              <a:spcAft>
                <a:spcPts val="1000"/>
              </a:spcAft>
            </a:pPr>
            <a:r>
              <a:rPr lang="en-US" sz="1800" b="1">
                <a:solidFill>
                  <a:srgbClr val="103D66"/>
                </a:solidFill>
                <a:latin typeface="Aptos"/>
              </a:rPr>
              <a:t>NEXT PRIORITIES</a:t>
            </a:r>
          </a:p>
        </p:txBody>
      </p:sp>
      <p:sp>
        <p:nvSpPr>
          <p:cNvPr id="13" name="Text 13"/>
          <p:cNvSpPr txBox="1"/>
          <p:nvPr/>
        </p:nvSpPr>
        <p:spPr>
          <a:xfrm>
            <a:off x="6446520" y="4937760"/>
            <a:ext cx="4983480" cy="1051560"/>
          </a:xfrm>
          <a:prstGeom prst="rect">
            <a:avLst/>
          </a:prstGeom>
          <a:noFill/>
          <a:ln>
            <a:noFill/>
          </a:ln>
        </p:spPr>
        <p:txBody>
          <a:bodyPr wrap="square" lIns="0" rIns="0" tIns="0" bIns="0"/>
          <a:lstStyle/>
          <a:p>
            <a:pPr>
              <a:spcAft>
                <a:spcPts val="1000"/>
              </a:spcAft>
            </a:pPr>
            <a:r>
              <a:rPr lang="en-US" sz="1900" b="0">
                <a:solidFill>
                  <a:srgbClr val="203345"/>
                </a:solidFill>
                <a:latin typeface="Aptos"/>
              </a:rPr>
              <a:t>Connect the save flow and authentication; verify on devices; profile performance.</a:t>
            </a:r>
          </a:p>
        </p:txBody>
      </p:sp>
    </p:spTree>
  </p:cSld>
  <p:clrMapOvr>
    <a:masterClrMapping/>
  </p:clrMapOvr>
</p:sld>
</file>

<file path=ppt/theme/theme1.xml><?xml version="1.0" encoding="utf-8"?>
<a:theme xmlns:a="http://schemas.openxmlformats.org/drawingml/2006/main" name="LanceBox">
  <a:themeElements>
    <a:clrScheme name="LanceBox">
      <a:dk1>
        <a:srgbClr val="203345"/>
      </a:dk1>
      <a:lt1>
        <a:srgbClr val="FFFFFF"/>
      </a:lt1>
      <a:dk2>
        <a:srgbClr val="103D66"/>
      </a:dk2>
      <a:lt2>
        <a:srgbClr val="EAF4FC"/>
      </a:lt2>
      <a:accent1>
        <a:srgbClr val="50A7FF"/>
      </a:accent1>
      <a:accent2>
        <a:srgbClr val="103D66"/>
      </a:accent2>
      <a:accent3>
        <a:srgbClr val="18BB55"/>
      </a:accent3>
      <a:accent4>
        <a:srgbClr val="F0AB46"/>
      </a:accent4>
      <a:accent5>
        <a:srgbClr val="7A72CC"/>
      </a:accent5>
      <a:accent6>
        <a:srgbClr val="5D6E7C"/>
      </a:accent6>
      <a:hlink>
        <a:srgbClr val="50A7FF"/>
      </a:hlink>
      <a:folHlink>
        <a:srgbClr val="103D66"/>
      </a:folHlink>
    </a:clrScheme>
    <a:fontScheme name="Aptos">
      <a:majorFont>
        <a:latin typeface="Aptos Display"/>
        <a:ea typeface=""/>
        <a:cs typeface=""/>
      </a:majorFont>
      <a:minorFont>
        <a:latin typeface="Aptos"/>
        <a:ea typeface=""/>
        <a:cs typeface=""/>
      </a:minorFont>
    </a:fontScheme>
    <a:fmtScheme name="Simple">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